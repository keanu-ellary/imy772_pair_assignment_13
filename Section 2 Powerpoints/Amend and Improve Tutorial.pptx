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notesMasterIdLst>
    <p:notesMasterId r:id="rId11"/>
  </p:notesMasterIdLst>
  <p:sldIdLst>
    <p:sldId id="256" r:id="rId2"/>
    <p:sldId id="261" r:id="rId3"/>
    <p:sldId id="278" r:id="rId4"/>
    <p:sldId id="264" r:id="rId5"/>
    <p:sldId id="263" r:id="rId6"/>
    <p:sldId id="279" r:id="rId7"/>
    <p:sldId id="270" r:id="rId8"/>
    <p:sldId id="277" r:id="rId9"/>
    <p:sldId id="26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1111"/>
    <a:srgbClr val="05002A"/>
    <a:srgbClr val="0D0D0D"/>
    <a:srgbClr val="2121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0DA372-C74F-4B1D-B66F-09BD8F78D11D}" v="163" dt="2026-03-28T13:02:40.3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53398" autoAdjust="0"/>
  </p:normalViewPr>
  <p:slideViewPr>
    <p:cSldViewPr snapToGrid="0">
      <p:cViewPr>
        <p:scale>
          <a:sx n="33" d="100"/>
          <a:sy n="33" d="100"/>
        </p:scale>
        <p:origin x="2606"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CEA29D-3C00-4008-9C10-43E7EBB389A1}" type="datetimeFigureOut">
              <a:rPr lang="en-ZA" smtClean="0"/>
              <a:t>2026/04/19</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DB95AE-DBFC-43E2-AB60-BB0D5F0DC0C2}" type="slidenum">
              <a:rPr lang="en-ZA" smtClean="0"/>
              <a:t>‹#›</a:t>
            </a:fld>
            <a:endParaRPr lang="en-ZA"/>
          </a:p>
        </p:txBody>
      </p:sp>
    </p:spTree>
    <p:extLst>
      <p:ext uri="{BB962C8B-B14F-4D97-AF65-F5344CB8AC3E}">
        <p14:creationId xmlns:p14="http://schemas.microsoft.com/office/powerpoint/2010/main" val="2374350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the last 2 tutorials, we learnt how to write tests and created the initial tests for our calculator application,. We also drafted code for these tests.</a:t>
            </a:r>
          </a:p>
          <a:p>
            <a:br>
              <a:rPr lang="en-GB" dirty="0"/>
            </a:br>
            <a:r>
              <a:rPr lang="en-GB" dirty="0"/>
              <a:t>Now let us look at how to amend and improve these tests and code to create a completely functional program.</a:t>
            </a:r>
            <a:endParaRPr lang="en-ZA" dirty="0"/>
          </a:p>
        </p:txBody>
      </p:sp>
      <p:sp>
        <p:nvSpPr>
          <p:cNvPr id="4" name="Slide Number Placeholder 3"/>
          <p:cNvSpPr>
            <a:spLocks noGrp="1"/>
          </p:cNvSpPr>
          <p:nvPr>
            <p:ph type="sldNum" sz="quarter" idx="5"/>
          </p:nvPr>
        </p:nvSpPr>
        <p:spPr/>
        <p:txBody>
          <a:bodyPr/>
          <a:lstStyle/>
          <a:p>
            <a:fld id="{9DDB95AE-DBFC-43E2-AB60-BB0D5F0DC0C2}" type="slidenum">
              <a:rPr lang="en-ZA" smtClean="0"/>
              <a:t>1</a:t>
            </a:fld>
            <a:endParaRPr lang="en-ZA"/>
          </a:p>
        </p:txBody>
      </p:sp>
    </p:spTree>
    <p:extLst>
      <p:ext uri="{BB962C8B-B14F-4D97-AF65-F5344CB8AC3E}">
        <p14:creationId xmlns:p14="http://schemas.microsoft.com/office/powerpoint/2010/main" val="3688204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Currently, after running the tests, we are shown that all tests pass!</a:t>
            </a:r>
          </a:p>
          <a:p>
            <a:r>
              <a:rPr lang="en-GB" sz="1200" b="0" i="0" kern="1200" dirty="0">
                <a:solidFill>
                  <a:schemeClr val="tx1"/>
                </a:solidFill>
                <a:effectLst/>
                <a:latin typeface="+mn-lt"/>
                <a:ea typeface="+mn-ea"/>
                <a:cs typeface="+mn-cs"/>
              </a:rPr>
              <a:t>However we are not complete yet.</a:t>
            </a:r>
          </a:p>
          <a:p>
            <a:r>
              <a:rPr lang="en-GB" sz="1200" b="0" i="0" kern="1200" dirty="0">
                <a:solidFill>
                  <a:schemeClr val="tx1"/>
                </a:solidFill>
                <a:effectLst/>
                <a:latin typeface="+mn-lt"/>
                <a:ea typeface="+mn-ea"/>
                <a:cs typeface="+mn-cs"/>
              </a:rPr>
              <a:t>These initial tests were written to meet the basic requirements identified.</a:t>
            </a:r>
          </a:p>
        </p:txBody>
      </p:sp>
      <p:sp>
        <p:nvSpPr>
          <p:cNvPr id="4" name="Slide Number Placeholder 3"/>
          <p:cNvSpPr>
            <a:spLocks noGrp="1"/>
          </p:cNvSpPr>
          <p:nvPr>
            <p:ph type="sldNum" sz="quarter" idx="5"/>
          </p:nvPr>
        </p:nvSpPr>
        <p:spPr/>
        <p:txBody>
          <a:bodyPr/>
          <a:lstStyle/>
          <a:p>
            <a:fld id="{9DDB95AE-DBFC-43E2-AB60-BB0D5F0DC0C2}" type="slidenum">
              <a:rPr lang="en-ZA" smtClean="0"/>
              <a:t>2</a:t>
            </a:fld>
            <a:endParaRPr lang="en-ZA"/>
          </a:p>
        </p:txBody>
      </p:sp>
    </p:spTree>
    <p:extLst>
      <p:ext uri="{BB962C8B-B14F-4D97-AF65-F5344CB8AC3E}">
        <p14:creationId xmlns:p14="http://schemas.microsoft.com/office/powerpoint/2010/main" val="21086675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9BA44-CA99-B9D3-4422-4709191E46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C4CF71-6E4D-DD8D-35F0-42FB2B9034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5269C6-B395-2CEA-85EC-F7E1071F9AB8}"/>
              </a:ext>
            </a:extLst>
          </p:cNvPr>
          <p:cNvSpPr>
            <a:spLocks noGrp="1"/>
          </p:cNvSpPr>
          <p:nvPr>
            <p:ph type="body" idx="1"/>
          </p:nvPr>
        </p:nvSpPr>
        <p:spPr/>
        <p:txBody>
          <a:bodyPr/>
          <a:lstStyle/>
          <a:p>
            <a:r>
              <a:rPr lang="en-GB" sz="1200" b="0" i="0" kern="1200" dirty="0">
                <a:solidFill>
                  <a:schemeClr val="tx1"/>
                </a:solidFill>
                <a:effectLst/>
                <a:latin typeface="+mn-lt"/>
                <a:ea typeface="+mn-ea"/>
                <a:cs typeface="+mn-cs"/>
              </a:rPr>
              <a:t>We must now amend and improve both our tests and code, where we amend it by adding missing test cases we did not account for yet, and improve it by making the tests and code clearer if possible.</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This process of amending and improving is repeated until a complete and fully functional program.</a:t>
            </a:r>
          </a:p>
        </p:txBody>
      </p:sp>
      <p:sp>
        <p:nvSpPr>
          <p:cNvPr id="4" name="Slide Number Placeholder 3">
            <a:extLst>
              <a:ext uri="{FF2B5EF4-FFF2-40B4-BE49-F238E27FC236}">
                <a16:creationId xmlns:a16="http://schemas.microsoft.com/office/drawing/2014/main" id="{FA07DEAC-B809-4E66-EA38-10B179451027}"/>
              </a:ext>
            </a:extLst>
          </p:cNvPr>
          <p:cNvSpPr>
            <a:spLocks noGrp="1"/>
          </p:cNvSpPr>
          <p:nvPr>
            <p:ph type="sldNum" sz="quarter" idx="5"/>
          </p:nvPr>
        </p:nvSpPr>
        <p:spPr/>
        <p:txBody>
          <a:bodyPr/>
          <a:lstStyle/>
          <a:p>
            <a:fld id="{9DDB95AE-DBFC-43E2-AB60-BB0D5F0DC0C2}" type="slidenum">
              <a:rPr lang="en-ZA" smtClean="0"/>
              <a:t>3</a:t>
            </a:fld>
            <a:endParaRPr lang="en-ZA"/>
          </a:p>
        </p:txBody>
      </p:sp>
    </p:spTree>
    <p:extLst>
      <p:ext uri="{BB962C8B-B14F-4D97-AF65-F5344CB8AC3E}">
        <p14:creationId xmlns:p14="http://schemas.microsoft.com/office/powerpoint/2010/main" val="1965105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Let’s amend our tests by going back to our initials tests and identify any edge cases missed.</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The only edge case missing is for empty input values, which should return an error and therefor will be part of the error handling category.</a:t>
            </a:r>
            <a:br>
              <a:rPr lang="en-GB" sz="1200" b="0" i="0" kern="1200" dirty="0">
                <a:solidFill>
                  <a:schemeClr val="tx1"/>
                </a:solidFill>
                <a:effectLst/>
                <a:latin typeface="+mn-lt"/>
                <a:ea typeface="+mn-ea"/>
                <a:cs typeface="+mn-cs"/>
              </a:rPr>
            </a:br>
            <a:endParaRPr lang="en-GB"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DDB95AE-DBFC-43E2-AB60-BB0D5F0DC0C2}" type="slidenum">
              <a:rPr lang="en-ZA" smtClean="0"/>
              <a:t>4</a:t>
            </a:fld>
            <a:endParaRPr lang="en-ZA"/>
          </a:p>
        </p:txBody>
      </p:sp>
    </p:spTree>
    <p:extLst>
      <p:ext uri="{BB962C8B-B14F-4D97-AF65-F5344CB8AC3E}">
        <p14:creationId xmlns:p14="http://schemas.microsoft.com/office/powerpoint/2010/main" val="17540763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To improve the functionality of the calculator program, we will make a new class that calls input handling, the arithmetic functions based on the operator in the user’s input and the out handling function to determine if the output from the arithmetic calculations is valid.</a:t>
            </a:r>
          </a:p>
          <a:p>
            <a:endParaRPr lang="en-ZA" dirty="0"/>
          </a:p>
          <a:p>
            <a:endParaRPr lang="en-ZA" dirty="0"/>
          </a:p>
        </p:txBody>
      </p:sp>
      <p:sp>
        <p:nvSpPr>
          <p:cNvPr id="4" name="Slide Number Placeholder 3"/>
          <p:cNvSpPr>
            <a:spLocks noGrp="1"/>
          </p:cNvSpPr>
          <p:nvPr>
            <p:ph type="sldNum" sz="quarter" idx="5"/>
          </p:nvPr>
        </p:nvSpPr>
        <p:spPr/>
        <p:txBody>
          <a:bodyPr/>
          <a:lstStyle/>
          <a:p>
            <a:fld id="{9DDB95AE-DBFC-43E2-AB60-BB0D5F0DC0C2}" type="slidenum">
              <a:rPr lang="en-ZA" smtClean="0"/>
              <a:t>5</a:t>
            </a:fld>
            <a:endParaRPr lang="en-ZA"/>
          </a:p>
        </p:txBody>
      </p:sp>
    </p:spTree>
    <p:extLst>
      <p:ext uri="{BB962C8B-B14F-4D97-AF65-F5344CB8AC3E}">
        <p14:creationId xmlns:p14="http://schemas.microsoft.com/office/powerpoint/2010/main" val="4517589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CF75F-EE18-A310-EB5F-94CB41FE74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5D0455-6A2D-3287-FBC1-8AA29C469E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03AC03-6525-D082-83CD-23E77538E9AE}"/>
              </a:ext>
            </a:extLst>
          </p:cNvPr>
          <p:cNvSpPr>
            <a:spLocks noGrp="1"/>
          </p:cNvSpPr>
          <p:nvPr>
            <p:ph type="body" idx="1"/>
          </p:nvPr>
        </p:nvSpPr>
        <p:spPr/>
        <p:txBody>
          <a:bodyPr/>
          <a:lstStyle/>
          <a:p>
            <a:r>
              <a:rPr lang="en-ZA" dirty="0"/>
              <a:t>Improving tests also include renaming test cases to be more descriptive, for example </a:t>
            </a:r>
            <a:r>
              <a:rPr lang="en-ZA" dirty="0" err="1"/>
              <a:t>test_calculate_addition</a:t>
            </a:r>
            <a:r>
              <a:rPr lang="en-ZA" dirty="0"/>
              <a:t> does not tell you anything specific, we should rename it to </a:t>
            </a:r>
            <a:r>
              <a:rPr lang="en-ZA" dirty="0" err="1"/>
              <a:t>test_calculate_addition_success</a:t>
            </a:r>
            <a:r>
              <a:rPr lang="en-ZA" dirty="0"/>
              <a:t>.</a:t>
            </a:r>
            <a:br>
              <a:rPr lang="en-ZA" dirty="0"/>
            </a:br>
            <a:r>
              <a:rPr lang="en-ZA" dirty="0"/>
              <a:t>This should be done for every test.</a:t>
            </a:r>
          </a:p>
          <a:p>
            <a:endParaRPr lang="en-ZA" dirty="0"/>
          </a:p>
          <a:p>
            <a:endParaRPr lang="en-ZA" dirty="0"/>
          </a:p>
        </p:txBody>
      </p:sp>
      <p:sp>
        <p:nvSpPr>
          <p:cNvPr id="4" name="Slide Number Placeholder 3">
            <a:extLst>
              <a:ext uri="{FF2B5EF4-FFF2-40B4-BE49-F238E27FC236}">
                <a16:creationId xmlns:a16="http://schemas.microsoft.com/office/drawing/2014/main" id="{D522FB11-7043-2921-DF8A-77B6FB48C7DC}"/>
              </a:ext>
            </a:extLst>
          </p:cNvPr>
          <p:cNvSpPr>
            <a:spLocks noGrp="1"/>
          </p:cNvSpPr>
          <p:nvPr>
            <p:ph type="sldNum" sz="quarter" idx="5"/>
          </p:nvPr>
        </p:nvSpPr>
        <p:spPr/>
        <p:txBody>
          <a:bodyPr/>
          <a:lstStyle/>
          <a:p>
            <a:fld id="{9DDB95AE-DBFC-43E2-AB60-BB0D5F0DC0C2}" type="slidenum">
              <a:rPr lang="en-ZA" smtClean="0"/>
              <a:t>6</a:t>
            </a:fld>
            <a:endParaRPr lang="en-ZA"/>
          </a:p>
        </p:txBody>
      </p:sp>
    </p:spTree>
    <p:extLst>
      <p:ext uri="{BB962C8B-B14F-4D97-AF65-F5344CB8AC3E}">
        <p14:creationId xmlns:p14="http://schemas.microsoft.com/office/powerpoint/2010/main" val="9887958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We must now amend the code to match the amendments made to our tests.</a:t>
            </a:r>
          </a:p>
          <a:p>
            <a:r>
              <a:rPr lang="en-ZA" dirty="0"/>
              <a:t>So we must add error handling for empty input to our </a:t>
            </a:r>
            <a:r>
              <a:rPr lang="en-ZA" dirty="0" err="1"/>
              <a:t>handle_input</a:t>
            </a:r>
            <a:r>
              <a:rPr lang="en-ZA" dirty="0"/>
              <a:t> function.</a:t>
            </a:r>
          </a:p>
        </p:txBody>
      </p:sp>
      <p:sp>
        <p:nvSpPr>
          <p:cNvPr id="4" name="Slide Number Placeholder 3"/>
          <p:cNvSpPr>
            <a:spLocks noGrp="1"/>
          </p:cNvSpPr>
          <p:nvPr>
            <p:ph type="sldNum" sz="quarter" idx="5"/>
          </p:nvPr>
        </p:nvSpPr>
        <p:spPr/>
        <p:txBody>
          <a:bodyPr/>
          <a:lstStyle/>
          <a:p>
            <a:fld id="{9DDB95AE-DBFC-43E2-AB60-BB0D5F0DC0C2}" type="slidenum">
              <a:rPr lang="en-ZA" smtClean="0"/>
              <a:t>7</a:t>
            </a:fld>
            <a:endParaRPr lang="en-ZA"/>
          </a:p>
        </p:txBody>
      </p:sp>
    </p:spTree>
    <p:extLst>
      <p:ext uri="{BB962C8B-B14F-4D97-AF65-F5344CB8AC3E}">
        <p14:creationId xmlns:p14="http://schemas.microsoft.com/office/powerpoint/2010/main" val="8772167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Lastly, to improve our code we will code the calculate function that can take will be able to take in any input for subtraction, addition, multiplication or addition and handle it in 1 function.</a:t>
            </a:r>
          </a:p>
          <a:p>
            <a:endParaRPr lang="en-ZA" dirty="0"/>
          </a:p>
          <a:p>
            <a:r>
              <a:rPr lang="en-ZA" dirty="0"/>
              <a:t>We should repeat this cycle of amending and improving until a fully functional application has been created.</a:t>
            </a:r>
          </a:p>
        </p:txBody>
      </p:sp>
      <p:sp>
        <p:nvSpPr>
          <p:cNvPr id="4" name="Slide Number Placeholder 3"/>
          <p:cNvSpPr>
            <a:spLocks noGrp="1"/>
          </p:cNvSpPr>
          <p:nvPr>
            <p:ph type="sldNum" sz="quarter" idx="5"/>
          </p:nvPr>
        </p:nvSpPr>
        <p:spPr/>
        <p:txBody>
          <a:bodyPr/>
          <a:lstStyle/>
          <a:p>
            <a:fld id="{9DDB95AE-DBFC-43E2-AB60-BB0D5F0DC0C2}" type="slidenum">
              <a:rPr lang="en-ZA" smtClean="0"/>
              <a:t>8</a:t>
            </a:fld>
            <a:endParaRPr lang="en-ZA"/>
          </a:p>
        </p:txBody>
      </p:sp>
    </p:spTree>
    <p:extLst>
      <p:ext uri="{BB962C8B-B14F-4D97-AF65-F5344CB8AC3E}">
        <p14:creationId xmlns:p14="http://schemas.microsoft.com/office/powerpoint/2010/main" val="16517671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Finally, tests and code have been amended and improved, and they all pass.</a:t>
            </a:r>
          </a:p>
          <a:p>
            <a:r>
              <a:rPr lang="en-GB" dirty="0"/>
              <a:t>In the next tutorial, you will learn how to migrate the tests into GitHub Actions.</a:t>
            </a:r>
            <a:endParaRPr lang="en-ZA" dirty="0"/>
          </a:p>
        </p:txBody>
      </p:sp>
      <p:sp>
        <p:nvSpPr>
          <p:cNvPr id="4" name="Slide Number Placeholder 3"/>
          <p:cNvSpPr>
            <a:spLocks noGrp="1"/>
          </p:cNvSpPr>
          <p:nvPr>
            <p:ph type="sldNum" sz="quarter" idx="5"/>
          </p:nvPr>
        </p:nvSpPr>
        <p:spPr/>
        <p:txBody>
          <a:bodyPr/>
          <a:lstStyle/>
          <a:p>
            <a:fld id="{9DDB95AE-DBFC-43E2-AB60-BB0D5F0DC0C2}" type="slidenum">
              <a:rPr lang="en-ZA" smtClean="0"/>
              <a:t>9</a:t>
            </a:fld>
            <a:endParaRPr lang="en-ZA"/>
          </a:p>
        </p:txBody>
      </p:sp>
    </p:spTree>
    <p:extLst>
      <p:ext uri="{BB962C8B-B14F-4D97-AF65-F5344CB8AC3E}">
        <p14:creationId xmlns:p14="http://schemas.microsoft.com/office/powerpoint/2010/main" val="35610883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4/19/2026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17749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4/19/2026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973233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4/19/2026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7598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4/19/2026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59352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4/19/2026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394980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4/19/2026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05958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4/19/2026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80957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4/19/2026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502141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4/19/2026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41690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4/19/2026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89114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4/19/2026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40815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4/19/2026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2766784322"/>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3.sv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5.png"/><Relationship Id="rId5" Type="http://schemas.openxmlformats.org/officeDocument/2006/relationships/image" Target="../media/image2.sv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9.png"/><Relationship Id="rId5" Type="http://schemas.openxmlformats.org/officeDocument/2006/relationships/image" Target="../media/image7.svg"/><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image" Target="../media/image10.png"/><Relationship Id="rId5" Type="http://schemas.openxmlformats.org/officeDocument/2006/relationships/image" Target="../media/image7.svg"/><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image" Target="../media/image11.png"/><Relationship Id="rId5" Type="http://schemas.openxmlformats.org/officeDocument/2006/relationships/image" Target="../media/image7.svg"/><Relationship Id="rId4" Type="http://schemas.openxmlformats.org/officeDocument/2006/relationships/image" Target="../media/image6.sv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AD5EEE9-A7CA-90B0-45CD-99D2CDF39751}"/>
              </a:ext>
            </a:extLst>
          </p:cNvPr>
          <p:cNvPicPr>
            <a:picLocks noChangeAspect="1"/>
          </p:cNvPicPr>
          <p:nvPr/>
        </p:nvPicPr>
        <p:blipFill>
          <a:blip r:embed="rId3">
            <a:alphaModFix amt="60000"/>
          </a:blip>
          <a:srcRect b="6250"/>
          <a:stretch>
            <a:fillRect/>
          </a:stretch>
        </p:blipFill>
        <p:spPr>
          <a:xfrm>
            <a:off x="1" y="1"/>
            <a:ext cx="12192000" cy="6857999"/>
          </a:xfrm>
          <a:prstGeom prst="rect">
            <a:avLst/>
          </a:prstGeom>
        </p:spPr>
      </p:pic>
      <p:sp>
        <p:nvSpPr>
          <p:cNvPr id="2" name="Title 1">
            <a:extLst>
              <a:ext uri="{FF2B5EF4-FFF2-40B4-BE49-F238E27FC236}">
                <a16:creationId xmlns:a16="http://schemas.microsoft.com/office/drawing/2014/main" id="{E55C9618-26E7-1194-760B-194CF9619C9E}"/>
              </a:ext>
            </a:extLst>
          </p:cNvPr>
          <p:cNvSpPr>
            <a:spLocks noGrp="1"/>
          </p:cNvSpPr>
          <p:nvPr>
            <p:ph type="ctrTitle"/>
          </p:nvPr>
        </p:nvSpPr>
        <p:spPr>
          <a:xfrm>
            <a:off x="2301923" y="1482602"/>
            <a:ext cx="7588155" cy="2236264"/>
          </a:xfrm>
        </p:spPr>
        <p:txBody>
          <a:bodyPr>
            <a:normAutofit fontScale="90000"/>
          </a:bodyPr>
          <a:lstStyle/>
          <a:p>
            <a:r>
              <a:rPr lang="en-US" sz="5400" dirty="0">
                <a:solidFill>
                  <a:srgbClr val="FFFFFF"/>
                </a:solidFill>
              </a:rPr>
              <a:t>How To Amend And Improve Tests And Code</a:t>
            </a:r>
            <a:endParaRPr lang="en-ZA" sz="5400" dirty="0">
              <a:solidFill>
                <a:srgbClr val="FFFFFF"/>
              </a:solidFill>
            </a:endParaRPr>
          </a:p>
        </p:txBody>
      </p:sp>
      <p:sp>
        <p:nvSpPr>
          <p:cNvPr id="3" name="Subtitle 2">
            <a:extLst>
              <a:ext uri="{FF2B5EF4-FFF2-40B4-BE49-F238E27FC236}">
                <a16:creationId xmlns:a16="http://schemas.microsoft.com/office/drawing/2014/main" id="{9D39EF0F-9936-B45E-946A-1E3098CDAE61}"/>
              </a:ext>
            </a:extLst>
          </p:cNvPr>
          <p:cNvSpPr>
            <a:spLocks noGrp="1"/>
          </p:cNvSpPr>
          <p:nvPr>
            <p:ph type="subTitle" idx="1"/>
          </p:nvPr>
        </p:nvSpPr>
        <p:spPr>
          <a:xfrm>
            <a:off x="2301923" y="3793937"/>
            <a:ext cx="7588155" cy="1414091"/>
          </a:xfrm>
        </p:spPr>
        <p:txBody>
          <a:bodyPr>
            <a:normAutofit/>
          </a:bodyPr>
          <a:lstStyle/>
          <a:p>
            <a:r>
              <a:rPr lang="en-ZA" sz="2200" dirty="0">
                <a:solidFill>
                  <a:srgbClr val="FFFFFF"/>
                </a:solidFill>
              </a:rPr>
              <a:t>Tutorial</a:t>
            </a:r>
          </a:p>
        </p:txBody>
      </p:sp>
    </p:spTree>
    <p:extLst>
      <p:ext uri="{BB962C8B-B14F-4D97-AF65-F5344CB8AC3E}">
        <p14:creationId xmlns:p14="http://schemas.microsoft.com/office/powerpoint/2010/main" val="21414556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advTm="2505">
        <p:fade/>
      </p:transition>
    </mc:Choice>
    <mc:Fallback xmlns="">
      <p:transition spd="med" advTm="2505">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a:extLst>
            <a:ext uri="{FF2B5EF4-FFF2-40B4-BE49-F238E27FC236}">
              <a16:creationId xmlns:a16="http://schemas.microsoft.com/office/drawing/2014/main" id="{9CB9D001-F1E8-C60B-86AE-33D5FF62A2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6A6B1B-3067-B0A9-A5C6-4C34FF23BFE2}"/>
              </a:ext>
            </a:extLst>
          </p:cNvPr>
          <p:cNvSpPr>
            <a:spLocks noGrp="1"/>
          </p:cNvSpPr>
          <p:nvPr>
            <p:ph type="title"/>
          </p:nvPr>
        </p:nvSpPr>
        <p:spPr/>
        <p:txBody>
          <a:bodyPr>
            <a:noAutofit/>
          </a:bodyPr>
          <a:lstStyle/>
          <a:p>
            <a:r>
              <a:rPr lang="en-ZA" sz="5400" dirty="0">
                <a:solidFill>
                  <a:schemeClr val="bg2"/>
                </a:solidFill>
              </a:rPr>
              <a:t>Current Tests</a:t>
            </a:r>
          </a:p>
        </p:txBody>
      </p:sp>
      <p:pic>
        <p:nvPicPr>
          <p:cNvPr id="8" name="Graphic 7" descr="Circles radiating out from a central point">
            <a:extLst>
              <a:ext uri="{FF2B5EF4-FFF2-40B4-BE49-F238E27FC236}">
                <a16:creationId xmlns:a16="http://schemas.microsoft.com/office/drawing/2014/main" id="{7A74F728-41DD-500F-50EC-7386B41D541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12665" y="5345335"/>
            <a:ext cx="3025329" cy="3025329"/>
          </a:xfrm>
          <a:prstGeom prst="rect">
            <a:avLst/>
          </a:prstGeom>
        </p:spPr>
      </p:pic>
      <p:pic>
        <p:nvPicPr>
          <p:cNvPr id="9" name="Graphic 8" descr="Decorative circles">
            <a:extLst>
              <a:ext uri="{FF2B5EF4-FFF2-40B4-BE49-F238E27FC236}">
                <a16:creationId xmlns:a16="http://schemas.microsoft.com/office/drawing/2014/main" id="{05654B75-70E1-47C5-40BB-9BE5431FE13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20977032">
            <a:off x="9723458" y="-2076305"/>
            <a:ext cx="4152611" cy="4152611"/>
          </a:xfrm>
          <a:prstGeom prst="rect">
            <a:avLst/>
          </a:prstGeom>
        </p:spPr>
      </p:pic>
      <p:pic>
        <p:nvPicPr>
          <p:cNvPr id="10" name="Graphic 9" descr="Circles radiating out from a central point">
            <a:extLst>
              <a:ext uri="{FF2B5EF4-FFF2-40B4-BE49-F238E27FC236}">
                <a16:creationId xmlns:a16="http://schemas.microsoft.com/office/drawing/2014/main" id="{8C77D16E-DE74-23A1-CE62-C228DD0F12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05627" y="-1910560"/>
            <a:ext cx="3025329" cy="3025329"/>
          </a:xfrm>
          <a:prstGeom prst="rect">
            <a:avLst/>
          </a:prstGeom>
        </p:spPr>
      </p:pic>
      <p:pic>
        <p:nvPicPr>
          <p:cNvPr id="7" name="Content Placeholder 6">
            <a:extLst>
              <a:ext uri="{FF2B5EF4-FFF2-40B4-BE49-F238E27FC236}">
                <a16:creationId xmlns:a16="http://schemas.microsoft.com/office/drawing/2014/main" id="{9BA8BA69-FE9B-255A-2E06-511A3E54D27A}"/>
              </a:ext>
            </a:extLst>
          </p:cNvPr>
          <p:cNvPicPr>
            <a:picLocks noGrp="1" noChangeAspect="1"/>
          </p:cNvPicPr>
          <p:nvPr>
            <p:ph idx="1"/>
          </p:nvPr>
        </p:nvPicPr>
        <p:blipFill>
          <a:blip r:embed="rId6"/>
          <a:stretch>
            <a:fillRect/>
          </a:stretch>
        </p:blipFill>
        <p:spPr>
          <a:xfrm>
            <a:off x="651096" y="1853455"/>
            <a:ext cx="10889807" cy="3528200"/>
          </a:xfrm>
          <a:prstGeom prst="rect">
            <a:avLst/>
          </a:prstGeom>
          <a:noFill/>
        </p:spPr>
      </p:pic>
    </p:spTree>
    <p:custDataLst>
      <p:tags r:id="rId1"/>
    </p:custDataLst>
    <p:extLst>
      <p:ext uri="{BB962C8B-B14F-4D97-AF65-F5344CB8AC3E}">
        <p14:creationId xmlns:p14="http://schemas.microsoft.com/office/powerpoint/2010/main" val="2423244124"/>
      </p:ext>
    </p:extLst>
  </p:cSld>
  <p:clrMapOvr>
    <a:masterClrMapping/>
  </p:clrMapOvr>
  <p:transition spd="slow" advTm="86296">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a:extLst>
            <a:ext uri="{FF2B5EF4-FFF2-40B4-BE49-F238E27FC236}">
              <a16:creationId xmlns:a16="http://schemas.microsoft.com/office/drawing/2014/main" id="{2C1119B5-6222-F991-D727-F2317538A4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40B154-59DD-BA6B-7EAF-22CCFC83D220}"/>
              </a:ext>
            </a:extLst>
          </p:cNvPr>
          <p:cNvSpPr>
            <a:spLocks noGrp="1"/>
          </p:cNvSpPr>
          <p:nvPr>
            <p:ph type="title"/>
          </p:nvPr>
        </p:nvSpPr>
        <p:spPr/>
        <p:txBody>
          <a:bodyPr>
            <a:noAutofit/>
          </a:bodyPr>
          <a:lstStyle/>
          <a:p>
            <a:r>
              <a:rPr lang="en-ZA" sz="5400" dirty="0">
                <a:solidFill>
                  <a:schemeClr val="bg2"/>
                </a:solidFill>
              </a:rPr>
              <a:t>Amend and Improve</a:t>
            </a:r>
          </a:p>
        </p:txBody>
      </p:sp>
      <p:pic>
        <p:nvPicPr>
          <p:cNvPr id="8" name="Graphic 7" descr="Circles radiating out from a central point">
            <a:extLst>
              <a:ext uri="{FF2B5EF4-FFF2-40B4-BE49-F238E27FC236}">
                <a16:creationId xmlns:a16="http://schemas.microsoft.com/office/drawing/2014/main" id="{026D1C44-FB7A-86E8-7549-595B6D924D9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12665" y="5345335"/>
            <a:ext cx="3025329" cy="3025329"/>
          </a:xfrm>
          <a:prstGeom prst="rect">
            <a:avLst/>
          </a:prstGeom>
        </p:spPr>
      </p:pic>
      <p:pic>
        <p:nvPicPr>
          <p:cNvPr id="9" name="Graphic 8" descr="Decorative circles">
            <a:extLst>
              <a:ext uri="{FF2B5EF4-FFF2-40B4-BE49-F238E27FC236}">
                <a16:creationId xmlns:a16="http://schemas.microsoft.com/office/drawing/2014/main" id="{A7EB39F9-6102-2417-8D0B-DB76B721B57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20977032">
            <a:off x="9723458" y="-2076305"/>
            <a:ext cx="4152611" cy="4152611"/>
          </a:xfrm>
          <a:prstGeom prst="rect">
            <a:avLst/>
          </a:prstGeom>
        </p:spPr>
      </p:pic>
      <p:pic>
        <p:nvPicPr>
          <p:cNvPr id="10" name="Graphic 9" descr="Circles radiating out from a central point">
            <a:extLst>
              <a:ext uri="{FF2B5EF4-FFF2-40B4-BE49-F238E27FC236}">
                <a16:creationId xmlns:a16="http://schemas.microsoft.com/office/drawing/2014/main" id="{E513EACD-6A2F-ED1E-7460-07891F9AD3B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05627" y="-1910560"/>
            <a:ext cx="3025329" cy="3025329"/>
          </a:xfrm>
          <a:prstGeom prst="rect">
            <a:avLst/>
          </a:prstGeom>
        </p:spPr>
      </p:pic>
      <p:sp>
        <p:nvSpPr>
          <p:cNvPr id="4" name="Content Placeholder 3">
            <a:extLst>
              <a:ext uri="{FF2B5EF4-FFF2-40B4-BE49-F238E27FC236}">
                <a16:creationId xmlns:a16="http://schemas.microsoft.com/office/drawing/2014/main" id="{2CDE5E7A-C13F-2537-047E-8CCCF76AE296}"/>
              </a:ext>
            </a:extLst>
          </p:cNvPr>
          <p:cNvSpPr>
            <a:spLocks noGrp="1"/>
          </p:cNvSpPr>
          <p:nvPr>
            <p:ph idx="1"/>
          </p:nvPr>
        </p:nvSpPr>
        <p:spPr>
          <a:xfrm>
            <a:off x="5006790" y="1844099"/>
            <a:ext cx="2178420" cy="1965514"/>
          </a:xfrm>
        </p:spPr>
        <p:txBody>
          <a:bodyPr>
            <a:normAutofit/>
          </a:bodyPr>
          <a:lstStyle/>
          <a:p>
            <a:pPr marL="0" indent="0">
              <a:buNone/>
            </a:pPr>
            <a:r>
              <a:rPr lang="en-GB" sz="4400" dirty="0">
                <a:solidFill>
                  <a:schemeClr val="bg1"/>
                </a:solidFill>
              </a:rPr>
              <a:t>Amend</a:t>
            </a:r>
            <a:endParaRPr lang="en-ZA" sz="4400" dirty="0">
              <a:solidFill>
                <a:schemeClr val="bg1"/>
              </a:solidFill>
            </a:endParaRPr>
          </a:p>
        </p:txBody>
      </p:sp>
      <p:sp>
        <p:nvSpPr>
          <p:cNvPr id="6" name="TextBox 5">
            <a:extLst>
              <a:ext uri="{FF2B5EF4-FFF2-40B4-BE49-F238E27FC236}">
                <a16:creationId xmlns:a16="http://schemas.microsoft.com/office/drawing/2014/main" id="{06383EB2-8DC0-A74A-9037-387585D0574E}"/>
              </a:ext>
            </a:extLst>
          </p:cNvPr>
          <p:cNvSpPr txBox="1"/>
          <p:nvPr/>
        </p:nvSpPr>
        <p:spPr>
          <a:xfrm>
            <a:off x="4824564" y="4646045"/>
            <a:ext cx="2542871" cy="769441"/>
          </a:xfrm>
          <a:prstGeom prst="rect">
            <a:avLst/>
          </a:prstGeom>
          <a:noFill/>
        </p:spPr>
        <p:txBody>
          <a:bodyPr wrap="square">
            <a:spAutoFit/>
          </a:bodyPr>
          <a:lstStyle/>
          <a:p>
            <a:pPr marL="0" indent="0">
              <a:buNone/>
            </a:pPr>
            <a:r>
              <a:rPr lang="en-GB" sz="4400" dirty="0">
                <a:solidFill>
                  <a:schemeClr val="bg1"/>
                </a:solidFill>
              </a:rPr>
              <a:t>Improve</a:t>
            </a:r>
            <a:endParaRPr lang="en-ZA" sz="4400" dirty="0">
              <a:solidFill>
                <a:schemeClr val="bg1"/>
              </a:solidFill>
            </a:endParaRPr>
          </a:p>
        </p:txBody>
      </p:sp>
      <p:sp>
        <p:nvSpPr>
          <p:cNvPr id="18" name="Arrow: Curved Up 17">
            <a:extLst>
              <a:ext uri="{FF2B5EF4-FFF2-40B4-BE49-F238E27FC236}">
                <a16:creationId xmlns:a16="http://schemas.microsoft.com/office/drawing/2014/main" id="{19BBE22B-0B93-3A3C-EBFC-2326B3DF91A1}"/>
              </a:ext>
            </a:extLst>
          </p:cNvPr>
          <p:cNvSpPr/>
          <p:nvPr/>
        </p:nvSpPr>
        <p:spPr>
          <a:xfrm rot="16200000" flipH="1">
            <a:off x="6535629" y="3224356"/>
            <a:ext cx="2977800" cy="1037668"/>
          </a:xfrm>
          <a:prstGeom prst="curvedUpArrow">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solidFill>
                <a:schemeClr val="tx1"/>
              </a:solidFill>
            </a:endParaRPr>
          </a:p>
        </p:txBody>
      </p:sp>
      <p:sp>
        <p:nvSpPr>
          <p:cNvPr id="19" name="Arrow: Curved Up 18">
            <a:extLst>
              <a:ext uri="{FF2B5EF4-FFF2-40B4-BE49-F238E27FC236}">
                <a16:creationId xmlns:a16="http://schemas.microsoft.com/office/drawing/2014/main" id="{95DDC814-3543-38A4-CC61-FF257C236821}"/>
              </a:ext>
            </a:extLst>
          </p:cNvPr>
          <p:cNvSpPr/>
          <p:nvPr/>
        </p:nvSpPr>
        <p:spPr>
          <a:xfrm rot="6010223" flipH="1">
            <a:off x="2602358" y="2982274"/>
            <a:ext cx="2879785" cy="1072985"/>
          </a:xfrm>
          <a:prstGeom prst="curvedUp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solidFill>
                <a:schemeClr val="tx1"/>
              </a:solidFill>
            </a:endParaRPr>
          </a:p>
        </p:txBody>
      </p:sp>
    </p:spTree>
    <p:custDataLst>
      <p:tags r:id="rId1"/>
    </p:custDataLst>
    <p:extLst>
      <p:ext uri="{BB962C8B-B14F-4D97-AF65-F5344CB8AC3E}">
        <p14:creationId xmlns:p14="http://schemas.microsoft.com/office/powerpoint/2010/main" val="4008277124"/>
      </p:ext>
    </p:extLst>
  </p:cSld>
  <p:clrMapOvr>
    <a:masterClrMapping/>
  </p:clrMapOvr>
  <p:transition spd="slow" advTm="86296">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a:extLst>
            <a:ext uri="{FF2B5EF4-FFF2-40B4-BE49-F238E27FC236}">
              <a16:creationId xmlns:a16="http://schemas.microsoft.com/office/drawing/2014/main" id="{4ECB155B-DF86-CB21-EC6B-4D1392FB34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04489C-46E3-1607-8C0F-E1A0BF4BD08C}"/>
              </a:ext>
            </a:extLst>
          </p:cNvPr>
          <p:cNvSpPr>
            <a:spLocks noGrp="1"/>
          </p:cNvSpPr>
          <p:nvPr>
            <p:ph type="title"/>
          </p:nvPr>
        </p:nvSpPr>
        <p:spPr/>
        <p:txBody>
          <a:bodyPr>
            <a:noAutofit/>
          </a:bodyPr>
          <a:lstStyle/>
          <a:p>
            <a:r>
              <a:rPr lang="en-ZA" sz="5400" dirty="0">
                <a:solidFill>
                  <a:schemeClr val="bg2"/>
                </a:solidFill>
              </a:rPr>
              <a:t>Amend Tests</a:t>
            </a:r>
          </a:p>
        </p:txBody>
      </p:sp>
      <p:sp>
        <p:nvSpPr>
          <p:cNvPr id="4" name="Content Placeholder 3">
            <a:extLst>
              <a:ext uri="{FF2B5EF4-FFF2-40B4-BE49-F238E27FC236}">
                <a16:creationId xmlns:a16="http://schemas.microsoft.com/office/drawing/2014/main" id="{7261218E-FACC-53A6-19C7-9DE0AAA90A34}"/>
              </a:ext>
            </a:extLst>
          </p:cNvPr>
          <p:cNvSpPr>
            <a:spLocks noGrp="1"/>
          </p:cNvSpPr>
          <p:nvPr>
            <p:ph idx="1"/>
          </p:nvPr>
        </p:nvSpPr>
        <p:spPr>
          <a:xfrm>
            <a:off x="1228663" y="1892968"/>
            <a:ext cx="10037563" cy="4416392"/>
          </a:xfrm>
        </p:spPr>
        <p:txBody>
          <a:bodyPr>
            <a:normAutofit/>
          </a:bodyPr>
          <a:lstStyle/>
          <a:p>
            <a:r>
              <a:rPr lang="en-GB" sz="2400" dirty="0">
                <a:solidFill>
                  <a:schemeClr val="bg1"/>
                </a:solidFill>
              </a:rPr>
              <a:t>Missing edge cases</a:t>
            </a:r>
          </a:p>
          <a:p>
            <a:pPr lvl="1"/>
            <a:r>
              <a:rPr lang="en-GB" sz="2200" dirty="0">
                <a:solidFill>
                  <a:schemeClr val="bg1"/>
                </a:solidFill>
              </a:rPr>
              <a:t>Empty input values</a:t>
            </a:r>
            <a:endParaRPr lang="en-ZA" sz="2200" dirty="0">
              <a:solidFill>
                <a:schemeClr val="bg1"/>
              </a:solidFill>
            </a:endParaRPr>
          </a:p>
        </p:txBody>
      </p:sp>
      <p:pic>
        <p:nvPicPr>
          <p:cNvPr id="6" name="Graphic 5" descr="Decorative circles">
            <a:extLst>
              <a:ext uri="{FF2B5EF4-FFF2-40B4-BE49-F238E27FC236}">
                <a16:creationId xmlns:a16="http://schemas.microsoft.com/office/drawing/2014/main" id="{5ABB9339-F4D8-2B8F-6D2B-DDA018B8551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20977032">
            <a:off x="9503047" y="4077522"/>
            <a:ext cx="4152611" cy="4152611"/>
          </a:xfrm>
          <a:prstGeom prst="rect">
            <a:avLst/>
          </a:prstGeom>
        </p:spPr>
      </p:pic>
      <p:pic>
        <p:nvPicPr>
          <p:cNvPr id="7" name="Graphic 6" descr="Circles radiating out from a central point">
            <a:extLst>
              <a:ext uri="{FF2B5EF4-FFF2-40B4-BE49-F238E27FC236}">
                <a16:creationId xmlns:a16="http://schemas.microsoft.com/office/drawing/2014/main" id="{07B766F2-DE1E-5A1E-5EC7-F8E94A35F19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601045">
            <a:off x="10539622" y="2499782"/>
            <a:ext cx="3025329" cy="3025329"/>
          </a:xfrm>
          <a:prstGeom prst="rect">
            <a:avLst/>
          </a:prstGeom>
        </p:spPr>
      </p:pic>
      <p:pic>
        <p:nvPicPr>
          <p:cNvPr id="8" name="Graphic 7" descr="Circles radiating out from a central point">
            <a:extLst>
              <a:ext uri="{FF2B5EF4-FFF2-40B4-BE49-F238E27FC236}">
                <a16:creationId xmlns:a16="http://schemas.microsoft.com/office/drawing/2014/main" id="{7FB40E8A-AE7B-E9DE-05F6-F00184816DB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601045">
            <a:off x="7746574" y="5068788"/>
            <a:ext cx="3025329" cy="3025329"/>
          </a:xfrm>
          <a:prstGeom prst="rect">
            <a:avLst/>
          </a:prstGeom>
        </p:spPr>
      </p:pic>
      <p:pic>
        <p:nvPicPr>
          <p:cNvPr id="5" name="Picture 4">
            <a:extLst>
              <a:ext uri="{FF2B5EF4-FFF2-40B4-BE49-F238E27FC236}">
                <a16:creationId xmlns:a16="http://schemas.microsoft.com/office/drawing/2014/main" id="{10E81373-277C-9951-4590-21DD8B4F78A7}"/>
              </a:ext>
            </a:extLst>
          </p:cNvPr>
          <p:cNvPicPr>
            <a:picLocks noChangeAspect="1"/>
          </p:cNvPicPr>
          <p:nvPr/>
        </p:nvPicPr>
        <p:blipFill>
          <a:blip r:embed="rId6"/>
          <a:stretch>
            <a:fillRect/>
          </a:stretch>
        </p:blipFill>
        <p:spPr>
          <a:xfrm>
            <a:off x="1433397" y="3429000"/>
            <a:ext cx="8434447" cy="1627043"/>
          </a:xfrm>
          <a:prstGeom prst="rect">
            <a:avLst/>
          </a:prstGeom>
        </p:spPr>
      </p:pic>
    </p:spTree>
    <p:custDataLst>
      <p:tags r:id="rId1"/>
    </p:custDataLst>
    <p:extLst>
      <p:ext uri="{BB962C8B-B14F-4D97-AF65-F5344CB8AC3E}">
        <p14:creationId xmlns:p14="http://schemas.microsoft.com/office/powerpoint/2010/main" val="3645732629"/>
      </p:ext>
    </p:extLst>
  </p:cSld>
  <p:clrMapOvr>
    <a:masterClrMapping/>
  </p:clrMapOvr>
  <p:transition spd="slow" advTm="28992">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a:extLst>
            <a:ext uri="{FF2B5EF4-FFF2-40B4-BE49-F238E27FC236}">
              <a16:creationId xmlns:a16="http://schemas.microsoft.com/office/drawing/2014/main" id="{AE93B4A8-15FD-8255-53F2-33F1E27EF5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A436E7-9706-A003-19CA-6DCE07EEE109}"/>
              </a:ext>
            </a:extLst>
          </p:cNvPr>
          <p:cNvSpPr>
            <a:spLocks noGrp="1"/>
          </p:cNvSpPr>
          <p:nvPr>
            <p:ph type="title"/>
          </p:nvPr>
        </p:nvSpPr>
        <p:spPr>
          <a:xfrm>
            <a:off x="612648" y="548640"/>
            <a:ext cx="10653578" cy="1552876"/>
          </a:xfrm>
        </p:spPr>
        <p:txBody>
          <a:bodyPr>
            <a:noAutofit/>
          </a:bodyPr>
          <a:lstStyle/>
          <a:p>
            <a:r>
              <a:rPr lang="en-ZA" sz="5400" dirty="0">
                <a:solidFill>
                  <a:schemeClr val="bg2"/>
                </a:solidFill>
              </a:rPr>
              <a:t>Improve Tests</a:t>
            </a:r>
          </a:p>
        </p:txBody>
      </p:sp>
      <p:pic>
        <p:nvPicPr>
          <p:cNvPr id="9" name="Graphic 8" descr="Decorative circles">
            <a:extLst>
              <a:ext uri="{FF2B5EF4-FFF2-40B4-BE49-F238E27FC236}">
                <a16:creationId xmlns:a16="http://schemas.microsoft.com/office/drawing/2014/main" id="{154D1BBA-724B-7668-7555-CE1E0E22D48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10497" y="-1745694"/>
            <a:ext cx="3721839" cy="3721839"/>
          </a:xfrm>
          <a:prstGeom prst="rect">
            <a:avLst/>
          </a:prstGeom>
        </p:spPr>
      </p:pic>
      <p:pic>
        <p:nvPicPr>
          <p:cNvPr id="10" name="Graphic 9" descr="Decorative circles">
            <a:extLst>
              <a:ext uri="{FF2B5EF4-FFF2-40B4-BE49-F238E27FC236}">
                <a16:creationId xmlns:a16="http://schemas.microsoft.com/office/drawing/2014/main" id="{1A5EC215-A08A-AEA8-2E7C-D6496B90AB0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827973" y="-1283991"/>
            <a:ext cx="3412137" cy="3412137"/>
          </a:xfrm>
          <a:prstGeom prst="rect">
            <a:avLst/>
          </a:prstGeom>
        </p:spPr>
      </p:pic>
      <p:pic>
        <p:nvPicPr>
          <p:cNvPr id="11" name="Graphic 10" descr="Decorative circles">
            <a:extLst>
              <a:ext uri="{FF2B5EF4-FFF2-40B4-BE49-F238E27FC236}">
                <a16:creationId xmlns:a16="http://schemas.microsoft.com/office/drawing/2014/main" id="{0EFA8F83-934A-A65E-D0C5-8B77AA19E15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548812" y="-139398"/>
            <a:ext cx="3721839" cy="3721839"/>
          </a:xfrm>
          <a:prstGeom prst="rect">
            <a:avLst/>
          </a:prstGeom>
        </p:spPr>
      </p:pic>
      <p:pic>
        <p:nvPicPr>
          <p:cNvPr id="4" name="Picture 3">
            <a:extLst>
              <a:ext uri="{FF2B5EF4-FFF2-40B4-BE49-F238E27FC236}">
                <a16:creationId xmlns:a16="http://schemas.microsoft.com/office/drawing/2014/main" id="{F3EB65C1-E5B9-84AA-9149-E8479AB4F532}"/>
              </a:ext>
            </a:extLst>
          </p:cNvPr>
          <p:cNvPicPr>
            <a:picLocks noChangeAspect="1"/>
          </p:cNvPicPr>
          <p:nvPr/>
        </p:nvPicPr>
        <p:blipFill>
          <a:blip r:embed="rId6"/>
          <a:stretch>
            <a:fillRect/>
          </a:stretch>
        </p:blipFill>
        <p:spPr>
          <a:xfrm>
            <a:off x="2744700" y="1325950"/>
            <a:ext cx="5109389" cy="5216393"/>
          </a:xfrm>
          <a:prstGeom prst="rect">
            <a:avLst/>
          </a:prstGeom>
        </p:spPr>
      </p:pic>
    </p:spTree>
    <p:custDataLst>
      <p:tags r:id="rId1"/>
    </p:custDataLst>
    <p:extLst>
      <p:ext uri="{BB962C8B-B14F-4D97-AF65-F5344CB8AC3E}">
        <p14:creationId xmlns:p14="http://schemas.microsoft.com/office/powerpoint/2010/main" val="888597822"/>
      </p:ext>
    </p:extLst>
  </p:cSld>
  <p:clrMapOvr>
    <a:masterClrMapping/>
  </p:clrMapOvr>
  <p:transition spd="slow" advTm="23499">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a:extLst>
            <a:ext uri="{FF2B5EF4-FFF2-40B4-BE49-F238E27FC236}">
              <a16:creationId xmlns:a16="http://schemas.microsoft.com/office/drawing/2014/main" id="{57E601AF-76AE-131C-5C72-AFC2210D66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5D0B49-98AD-2397-78EE-B1C7A7964476}"/>
              </a:ext>
            </a:extLst>
          </p:cNvPr>
          <p:cNvSpPr>
            <a:spLocks noGrp="1"/>
          </p:cNvSpPr>
          <p:nvPr>
            <p:ph type="title"/>
          </p:nvPr>
        </p:nvSpPr>
        <p:spPr>
          <a:xfrm>
            <a:off x="612648" y="548640"/>
            <a:ext cx="10653578" cy="1552876"/>
          </a:xfrm>
        </p:spPr>
        <p:txBody>
          <a:bodyPr>
            <a:noAutofit/>
          </a:bodyPr>
          <a:lstStyle/>
          <a:p>
            <a:r>
              <a:rPr lang="en-ZA" sz="5400" dirty="0">
                <a:solidFill>
                  <a:schemeClr val="bg2"/>
                </a:solidFill>
              </a:rPr>
              <a:t>Improve Tests</a:t>
            </a:r>
          </a:p>
        </p:txBody>
      </p:sp>
      <p:pic>
        <p:nvPicPr>
          <p:cNvPr id="9" name="Graphic 8" descr="Decorative circles">
            <a:extLst>
              <a:ext uri="{FF2B5EF4-FFF2-40B4-BE49-F238E27FC236}">
                <a16:creationId xmlns:a16="http://schemas.microsoft.com/office/drawing/2014/main" id="{99573067-3EC7-0FCD-9EA9-048467765E6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10497" y="-1745694"/>
            <a:ext cx="3721839" cy="3721839"/>
          </a:xfrm>
          <a:prstGeom prst="rect">
            <a:avLst/>
          </a:prstGeom>
        </p:spPr>
      </p:pic>
      <p:pic>
        <p:nvPicPr>
          <p:cNvPr id="10" name="Graphic 9" descr="Decorative circles">
            <a:extLst>
              <a:ext uri="{FF2B5EF4-FFF2-40B4-BE49-F238E27FC236}">
                <a16:creationId xmlns:a16="http://schemas.microsoft.com/office/drawing/2014/main" id="{C677AB55-527A-8922-9B10-9F4CB125C02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827973" y="-1283991"/>
            <a:ext cx="3412137" cy="3412137"/>
          </a:xfrm>
          <a:prstGeom prst="rect">
            <a:avLst/>
          </a:prstGeom>
        </p:spPr>
      </p:pic>
      <p:pic>
        <p:nvPicPr>
          <p:cNvPr id="11" name="Graphic 10" descr="Decorative circles">
            <a:extLst>
              <a:ext uri="{FF2B5EF4-FFF2-40B4-BE49-F238E27FC236}">
                <a16:creationId xmlns:a16="http://schemas.microsoft.com/office/drawing/2014/main" id="{4468CA4E-4E84-BA40-0F07-67A25CBB74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548812" y="-139398"/>
            <a:ext cx="3721839" cy="3721839"/>
          </a:xfrm>
          <a:prstGeom prst="rect">
            <a:avLst/>
          </a:prstGeom>
        </p:spPr>
      </p:pic>
      <p:pic>
        <p:nvPicPr>
          <p:cNvPr id="5" name="Picture 4">
            <a:extLst>
              <a:ext uri="{FF2B5EF4-FFF2-40B4-BE49-F238E27FC236}">
                <a16:creationId xmlns:a16="http://schemas.microsoft.com/office/drawing/2014/main" id="{0056FEB5-6FB9-29B8-4412-C368350CD6CC}"/>
              </a:ext>
            </a:extLst>
          </p:cNvPr>
          <p:cNvPicPr>
            <a:picLocks noChangeAspect="1"/>
          </p:cNvPicPr>
          <p:nvPr/>
        </p:nvPicPr>
        <p:blipFill>
          <a:blip r:embed="rId6"/>
          <a:stretch>
            <a:fillRect/>
          </a:stretch>
        </p:blipFill>
        <p:spPr>
          <a:xfrm>
            <a:off x="2126327" y="4395850"/>
            <a:ext cx="7939346" cy="1552875"/>
          </a:xfrm>
          <a:prstGeom prst="rect">
            <a:avLst/>
          </a:prstGeom>
        </p:spPr>
      </p:pic>
      <p:pic>
        <p:nvPicPr>
          <p:cNvPr id="6" name="Picture 5">
            <a:extLst>
              <a:ext uri="{FF2B5EF4-FFF2-40B4-BE49-F238E27FC236}">
                <a16:creationId xmlns:a16="http://schemas.microsoft.com/office/drawing/2014/main" id="{7C818A02-1DFB-70B3-CDFF-00F1167CB5E1}"/>
              </a:ext>
            </a:extLst>
          </p:cNvPr>
          <p:cNvPicPr>
            <a:picLocks noChangeAspect="1"/>
          </p:cNvPicPr>
          <p:nvPr/>
        </p:nvPicPr>
        <p:blipFill>
          <a:blip r:embed="rId7"/>
          <a:srcRect b="84622"/>
          <a:stretch>
            <a:fillRect/>
          </a:stretch>
        </p:blipFill>
        <p:spPr>
          <a:xfrm>
            <a:off x="2126327" y="1575046"/>
            <a:ext cx="7939346" cy="1246511"/>
          </a:xfrm>
          <a:prstGeom prst="rect">
            <a:avLst/>
          </a:prstGeom>
        </p:spPr>
      </p:pic>
      <p:sp>
        <p:nvSpPr>
          <p:cNvPr id="7" name="Arrow: Down 6">
            <a:extLst>
              <a:ext uri="{FF2B5EF4-FFF2-40B4-BE49-F238E27FC236}">
                <a16:creationId xmlns:a16="http://schemas.microsoft.com/office/drawing/2014/main" id="{9167477E-81BC-E4E4-1AAC-1CE2A8394C8B}"/>
              </a:ext>
            </a:extLst>
          </p:cNvPr>
          <p:cNvSpPr/>
          <p:nvPr/>
        </p:nvSpPr>
        <p:spPr>
          <a:xfrm>
            <a:off x="5322277" y="2821557"/>
            <a:ext cx="492369" cy="1246511"/>
          </a:xfrm>
          <a:prstGeom prst="downArrow">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custDataLst>
      <p:tags r:id="rId1"/>
    </p:custDataLst>
    <p:extLst>
      <p:ext uri="{BB962C8B-B14F-4D97-AF65-F5344CB8AC3E}">
        <p14:creationId xmlns:p14="http://schemas.microsoft.com/office/powerpoint/2010/main" val="4031846101"/>
      </p:ext>
    </p:extLst>
  </p:cSld>
  <p:clrMapOvr>
    <a:masterClrMapping/>
  </p:clrMapOvr>
  <p:transition spd="slow" advTm="23499">
    <p:push dir="u"/>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a:extLst>
            <a:ext uri="{FF2B5EF4-FFF2-40B4-BE49-F238E27FC236}">
              <a16:creationId xmlns:a16="http://schemas.microsoft.com/office/drawing/2014/main" id="{AE93B4A8-15FD-8255-53F2-33F1E27EF5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A436E7-9706-A003-19CA-6DCE07EEE109}"/>
              </a:ext>
            </a:extLst>
          </p:cNvPr>
          <p:cNvSpPr>
            <a:spLocks noGrp="1"/>
          </p:cNvSpPr>
          <p:nvPr>
            <p:ph type="title"/>
          </p:nvPr>
        </p:nvSpPr>
        <p:spPr>
          <a:xfrm>
            <a:off x="612648" y="548640"/>
            <a:ext cx="10653578" cy="1552876"/>
          </a:xfrm>
        </p:spPr>
        <p:txBody>
          <a:bodyPr>
            <a:noAutofit/>
          </a:bodyPr>
          <a:lstStyle/>
          <a:p>
            <a:r>
              <a:rPr lang="en-GB" sz="5400" dirty="0">
                <a:solidFill>
                  <a:schemeClr val="bg2"/>
                </a:solidFill>
              </a:rPr>
              <a:t>Amend Code</a:t>
            </a:r>
            <a:endParaRPr lang="en-ZA" sz="5400" dirty="0">
              <a:solidFill>
                <a:schemeClr val="bg2"/>
              </a:solidFill>
            </a:endParaRPr>
          </a:p>
        </p:txBody>
      </p:sp>
      <p:pic>
        <p:nvPicPr>
          <p:cNvPr id="9" name="Graphic 8" descr="Decorative circles">
            <a:extLst>
              <a:ext uri="{FF2B5EF4-FFF2-40B4-BE49-F238E27FC236}">
                <a16:creationId xmlns:a16="http://schemas.microsoft.com/office/drawing/2014/main" id="{154D1BBA-724B-7668-7555-CE1E0E22D48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10497" y="-1745694"/>
            <a:ext cx="3721839" cy="3721839"/>
          </a:xfrm>
          <a:prstGeom prst="rect">
            <a:avLst/>
          </a:prstGeom>
        </p:spPr>
      </p:pic>
      <p:pic>
        <p:nvPicPr>
          <p:cNvPr id="10" name="Graphic 9" descr="Decorative circles">
            <a:extLst>
              <a:ext uri="{FF2B5EF4-FFF2-40B4-BE49-F238E27FC236}">
                <a16:creationId xmlns:a16="http://schemas.microsoft.com/office/drawing/2014/main" id="{1A5EC215-A08A-AEA8-2E7C-D6496B90AB0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827973" y="-1283991"/>
            <a:ext cx="3412137" cy="3412137"/>
          </a:xfrm>
          <a:prstGeom prst="rect">
            <a:avLst/>
          </a:prstGeom>
        </p:spPr>
      </p:pic>
      <p:pic>
        <p:nvPicPr>
          <p:cNvPr id="11" name="Graphic 10" descr="Decorative circles">
            <a:extLst>
              <a:ext uri="{FF2B5EF4-FFF2-40B4-BE49-F238E27FC236}">
                <a16:creationId xmlns:a16="http://schemas.microsoft.com/office/drawing/2014/main" id="{0EFA8F83-934A-A65E-D0C5-8B77AA19E15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548812" y="-139398"/>
            <a:ext cx="3721839" cy="3721839"/>
          </a:xfrm>
          <a:prstGeom prst="rect">
            <a:avLst/>
          </a:prstGeom>
        </p:spPr>
      </p:pic>
      <p:sp>
        <p:nvSpPr>
          <p:cNvPr id="15" name="Content Placeholder 14">
            <a:extLst>
              <a:ext uri="{FF2B5EF4-FFF2-40B4-BE49-F238E27FC236}">
                <a16:creationId xmlns:a16="http://schemas.microsoft.com/office/drawing/2014/main" id="{6CCFB378-BF1F-A13D-7B83-4CB4383F69E7}"/>
              </a:ext>
            </a:extLst>
          </p:cNvPr>
          <p:cNvSpPr>
            <a:spLocks noGrp="1"/>
          </p:cNvSpPr>
          <p:nvPr>
            <p:ph idx="1"/>
          </p:nvPr>
        </p:nvSpPr>
        <p:spPr>
          <a:xfrm>
            <a:off x="975550" y="2066518"/>
            <a:ext cx="9927773" cy="3484516"/>
          </a:xfrm>
        </p:spPr>
        <p:txBody>
          <a:bodyPr/>
          <a:lstStyle/>
          <a:p>
            <a:r>
              <a:rPr lang="en-GB" sz="2400" dirty="0">
                <a:solidFill>
                  <a:schemeClr val="bg1"/>
                </a:solidFill>
              </a:rPr>
              <a:t>Missing edge cases</a:t>
            </a:r>
          </a:p>
          <a:p>
            <a:pPr lvl="1"/>
            <a:r>
              <a:rPr lang="en-GB" sz="2200" dirty="0">
                <a:solidFill>
                  <a:schemeClr val="bg1"/>
                </a:solidFill>
              </a:rPr>
              <a:t>Empty input values</a:t>
            </a:r>
            <a:endParaRPr lang="en-ZA" sz="2200" dirty="0">
              <a:solidFill>
                <a:schemeClr val="bg1"/>
              </a:solidFill>
            </a:endParaRPr>
          </a:p>
          <a:p>
            <a:endParaRPr lang="en-ZA" sz="2400" dirty="0">
              <a:solidFill>
                <a:schemeClr val="bg1"/>
              </a:solidFill>
            </a:endParaRPr>
          </a:p>
          <a:p>
            <a:endParaRPr lang="en-ZA" dirty="0">
              <a:solidFill>
                <a:schemeClr val="bg1"/>
              </a:solidFill>
            </a:endParaRPr>
          </a:p>
        </p:txBody>
      </p:sp>
      <p:pic>
        <p:nvPicPr>
          <p:cNvPr id="4" name="Picture 3">
            <a:extLst>
              <a:ext uri="{FF2B5EF4-FFF2-40B4-BE49-F238E27FC236}">
                <a16:creationId xmlns:a16="http://schemas.microsoft.com/office/drawing/2014/main" id="{09C71536-8A47-ECAE-E838-06589ABCD015}"/>
              </a:ext>
            </a:extLst>
          </p:cNvPr>
          <p:cNvPicPr>
            <a:picLocks noChangeAspect="1"/>
          </p:cNvPicPr>
          <p:nvPr/>
        </p:nvPicPr>
        <p:blipFill>
          <a:blip r:embed="rId6"/>
          <a:stretch>
            <a:fillRect/>
          </a:stretch>
        </p:blipFill>
        <p:spPr>
          <a:xfrm>
            <a:off x="1288677" y="3619394"/>
            <a:ext cx="8797382" cy="1265378"/>
          </a:xfrm>
          <a:prstGeom prst="rect">
            <a:avLst/>
          </a:prstGeom>
        </p:spPr>
      </p:pic>
    </p:spTree>
    <p:custDataLst>
      <p:tags r:id="rId1"/>
    </p:custDataLst>
    <p:extLst>
      <p:ext uri="{BB962C8B-B14F-4D97-AF65-F5344CB8AC3E}">
        <p14:creationId xmlns:p14="http://schemas.microsoft.com/office/powerpoint/2010/main" val="849359361"/>
      </p:ext>
    </p:extLst>
  </p:cSld>
  <p:clrMapOvr>
    <a:masterClrMapping/>
  </p:clrMapOvr>
  <p:transition spd="slow" advTm="23499">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1000"/>
                                        <p:tgtEl>
                                          <p:spTgt spid="15">
                                            <p:txEl>
                                              <p:pRg st="0" end="0"/>
                                            </p:txEl>
                                          </p:spTgt>
                                        </p:tgtEl>
                                      </p:cBhvr>
                                    </p:animEffect>
                                    <p:anim calcmode="lin" valueType="num">
                                      <p:cBhvr>
                                        <p:cTn id="8"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5">
                                            <p:txEl>
                                              <p:pRg st="1" end="1"/>
                                            </p:txEl>
                                          </p:spTgt>
                                        </p:tgtEl>
                                        <p:attrNameLst>
                                          <p:attrName>style.visibility</p:attrName>
                                        </p:attrNameLst>
                                      </p:cBhvr>
                                      <p:to>
                                        <p:strVal val="visible"/>
                                      </p:to>
                                    </p:set>
                                    <p:animEffect transition="in" filter="fade">
                                      <p:cBhvr>
                                        <p:cTn id="14" dur="1000"/>
                                        <p:tgtEl>
                                          <p:spTgt spid="15">
                                            <p:txEl>
                                              <p:pRg st="1" end="1"/>
                                            </p:txEl>
                                          </p:spTgt>
                                        </p:tgtEl>
                                      </p:cBhvr>
                                    </p:animEffect>
                                    <p:anim calcmode="lin" valueType="num">
                                      <p:cBhvr>
                                        <p:cTn id="15" dur="1000" fill="hold"/>
                                        <p:tgtEl>
                                          <p:spTgt spid="1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a:extLst>
            <a:ext uri="{FF2B5EF4-FFF2-40B4-BE49-F238E27FC236}">
              <a16:creationId xmlns:a16="http://schemas.microsoft.com/office/drawing/2014/main" id="{AE93B4A8-15FD-8255-53F2-33F1E27EF5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A436E7-9706-A003-19CA-6DCE07EEE109}"/>
              </a:ext>
            </a:extLst>
          </p:cNvPr>
          <p:cNvSpPr>
            <a:spLocks noGrp="1"/>
          </p:cNvSpPr>
          <p:nvPr>
            <p:ph type="title"/>
          </p:nvPr>
        </p:nvSpPr>
        <p:spPr>
          <a:xfrm>
            <a:off x="612648" y="548640"/>
            <a:ext cx="10653578" cy="1552876"/>
          </a:xfrm>
        </p:spPr>
        <p:txBody>
          <a:bodyPr>
            <a:noAutofit/>
          </a:bodyPr>
          <a:lstStyle/>
          <a:p>
            <a:r>
              <a:rPr lang="en-ZA" sz="5400" dirty="0">
                <a:solidFill>
                  <a:schemeClr val="bg2"/>
                </a:solidFill>
              </a:rPr>
              <a:t>Improve Code</a:t>
            </a:r>
          </a:p>
        </p:txBody>
      </p:sp>
      <p:pic>
        <p:nvPicPr>
          <p:cNvPr id="9" name="Graphic 8" descr="Decorative circles">
            <a:extLst>
              <a:ext uri="{FF2B5EF4-FFF2-40B4-BE49-F238E27FC236}">
                <a16:creationId xmlns:a16="http://schemas.microsoft.com/office/drawing/2014/main" id="{154D1BBA-724B-7668-7555-CE1E0E22D48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10497" y="-1745694"/>
            <a:ext cx="3721839" cy="3721839"/>
          </a:xfrm>
          <a:prstGeom prst="rect">
            <a:avLst/>
          </a:prstGeom>
        </p:spPr>
      </p:pic>
      <p:pic>
        <p:nvPicPr>
          <p:cNvPr id="10" name="Graphic 9" descr="Decorative circles">
            <a:extLst>
              <a:ext uri="{FF2B5EF4-FFF2-40B4-BE49-F238E27FC236}">
                <a16:creationId xmlns:a16="http://schemas.microsoft.com/office/drawing/2014/main" id="{1A5EC215-A08A-AEA8-2E7C-D6496B90AB0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827973" y="-1283991"/>
            <a:ext cx="3412137" cy="3412137"/>
          </a:xfrm>
          <a:prstGeom prst="rect">
            <a:avLst/>
          </a:prstGeom>
        </p:spPr>
      </p:pic>
      <p:pic>
        <p:nvPicPr>
          <p:cNvPr id="11" name="Graphic 10" descr="Decorative circles">
            <a:extLst>
              <a:ext uri="{FF2B5EF4-FFF2-40B4-BE49-F238E27FC236}">
                <a16:creationId xmlns:a16="http://schemas.microsoft.com/office/drawing/2014/main" id="{0EFA8F83-934A-A65E-D0C5-8B77AA19E15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548812" y="-139398"/>
            <a:ext cx="3721839" cy="3721839"/>
          </a:xfrm>
          <a:prstGeom prst="rect">
            <a:avLst/>
          </a:prstGeom>
        </p:spPr>
      </p:pic>
      <p:pic>
        <p:nvPicPr>
          <p:cNvPr id="7" name="Content Placeholder 6">
            <a:extLst>
              <a:ext uri="{FF2B5EF4-FFF2-40B4-BE49-F238E27FC236}">
                <a16:creationId xmlns:a16="http://schemas.microsoft.com/office/drawing/2014/main" id="{4A1BD2D5-5723-5070-1B18-5670BF37135D}"/>
              </a:ext>
            </a:extLst>
          </p:cNvPr>
          <p:cNvPicPr>
            <a:picLocks noGrp="1" noChangeAspect="1"/>
          </p:cNvPicPr>
          <p:nvPr>
            <p:ph idx="1"/>
          </p:nvPr>
        </p:nvPicPr>
        <p:blipFill>
          <a:blip r:embed="rId6"/>
          <a:stretch>
            <a:fillRect/>
          </a:stretch>
        </p:blipFill>
        <p:spPr>
          <a:xfrm>
            <a:off x="1944013" y="1559688"/>
            <a:ext cx="8303973" cy="4748917"/>
          </a:xfrm>
          <a:prstGeom prst="rect">
            <a:avLst/>
          </a:prstGeom>
        </p:spPr>
      </p:pic>
    </p:spTree>
    <p:custDataLst>
      <p:tags r:id="rId1"/>
    </p:custDataLst>
    <p:extLst>
      <p:ext uri="{BB962C8B-B14F-4D97-AF65-F5344CB8AC3E}">
        <p14:creationId xmlns:p14="http://schemas.microsoft.com/office/powerpoint/2010/main" val="166833108"/>
      </p:ext>
    </p:extLst>
  </p:cSld>
  <p:clrMapOvr>
    <a:masterClrMapping/>
  </p:clrMapOvr>
  <p:transition spd="slow" advTm="23499">
    <p:push dir="u"/>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C537B8-4B8F-4DB2-0FAF-33770C2E0D9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DA711B2-83EF-FC31-D573-E01B76B0FBCC}"/>
              </a:ext>
            </a:extLst>
          </p:cNvPr>
          <p:cNvPicPr>
            <a:picLocks noChangeAspect="1"/>
          </p:cNvPicPr>
          <p:nvPr/>
        </p:nvPicPr>
        <p:blipFill>
          <a:blip r:embed="rId3">
            <a:alphaModFix amt="60000"/>
          </a:blip>
          <a:srcRect b="6250"/>
          <a:stretch>
            <a:fillRect/>
          </a:stretch>
        </p:blipFill>
        <p:spPr>
          <a:xfrm>
            <a:off x="1" y="1"/>
            <a:ext cx="12192000" cy="6857999"/>
          </a:xfrm>
          <a:prstGeom prst="rect">
            <a:avLst/>
          </a:prstGeom>
        </p:spPr>
      </p:pic>
      <p:sp>
        <p:nvSpPr>
          <p:cNvPr id="2" name="Title 1">
            <a:extLst>
              <a:ext uri="{FF2B5EF4-FFF2-40B4-BE49-F238E27FC236}">
                <a16:creationId xmlns:a16="http://schemas.microsoft.com/office/drawing/2014/main" id="{7BBF0DAF-4D6F-586A-569A-660EDAC9BFB6}"/>
              </a:ext>
            </a:extLst>
          </p:cNvPr>
          <p:cNvSpPr>
            <a:spLocks noGrp="1"/>
          </p:cNvSpPr>
          <p:nvPr>
            <p:ph type="ctrTitle"/>
          </p:nvPr>
        </p:nvSpPr>
        <p:spPr>
          <a:xfrm>
            <a:off x="2301923" y="1482602"/>
            <a:ext cx="7588155" cy="2236264"/>
          </a:xfrm>
        </p:spPr>
        <p:txBody>
          <a:bodyPr>
            <a:normAutofit/>
          </a:bodyPr>
          <a:lstStyle/>
          <a:p>
            <a:r>
              <a:rPr lang="en-US" sz="5400" dirty="0">
                <a:solidFill>
                  <a:srgbClr val="FFFFFF"/>
                </a:solidFill>
              </a:rPr>
              <a:t>Next Step</a:t>
            </a:r>
            <a:endParaRPr lang="en-ZA" sz="5400" dirty="0">
              <a:solidFill>
                <a:srgbClr val="FFFFFF"/>
              </a:solidFill>
            </a:endParaRPr>
          </a:p>
        </p:txBody>
      </p:sp>
      <p:sp>
        <p:nvSpPr>
          <p:cNvPr id="3" name="Subtitle 2">
            <a:extLst>
              <a:ext uri="{FF2B5EF4-FFF2-40B4-BE49-F238E27FC236}">
                <a16:creationId xmlns:a16="http://schemas.microsoft.com/office/drawing/2014/main" id="{16ED0C39-B90A-82C2-753B-987B7D506C8D}"/>
              </a:ext>
            </a:extLst>
          </p:cNvPr>
          <p:cNvSpPr>
            <a:spLocks noGrp="1"/>
          </p:cNvSpPr>
          <p:nvPr>
            <p:ph type="subTitle" idx="1"/>
          </p:nvPr>
        </p:nvSpPr>
        <p:spPr>
          <a:xfrm>
            <a:off x="2301923" y="3793937"/>
            <a:ext cx="7588155" cy="1414091"/>
          </a:xfrm>
        </p:spPr>
        <p:txBody>
          <a:bodyPr>
            <a:normAutofit/>
          </a:bodyPr>
          <a:lstStyle/>
          <a:p>
            <a:r>
              <a:rPr lang="en-ZA" sz="2400" dirty="0">
                <a:solidFill>
                  <a:srgbClr val="FFFFFF"/>
                </a:solidFill>
              </a:rPr>
              <a:t>Migrate Tests into GitHub Actions</a:t>
            </a:r>
          </a:p>
        </p:txBody>
      </p:sp>
    </p:spTree>
    <p:extLst>
      <p:ext uri="{BB962C8B-B14F-4D97-AF65-F5344CB8AC3E}">
        <p14:creationId xmlns:p14="http://schemas.microsoft.com/office/powerpoint/2010/main" val="248167498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advTm="10737">
        <p14:reveal/>
      </p:transition>
    </mc:Choice>
    <mc:Fallback xmlns="">
      <p:transition spd="slow" advTm="10737">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11.3|15.6|13.7|13.4"/>
</p:tagLst>
</file>

<file path=ppt/tags/tag2.xml><?xml version="1.0" encoding="utf-8"?>
<p:tagLst xmlns:a="http://schemas.openxmlformats.org/drawingml/2006/main" xmlns:r="http://schemas.openxmlformats.org/officeDocument/2006/relationships" xmlns:p="http://schemas.openxmlformats.org/presentationml/2006/main">
  <p:tag name="TIMING" val="|11.3|15.6|13.7|13.4"/>
</p:tagLst>
</file>

<file path=ppt/tags/tag3.xml><?xml version="1.0" encoding="utf-8"?>
<p:tagLst xmlns:a="http://schemas.openxmlformats.org/drawingml/2006/main" xmlns:r="http://schemas.openxmlformats.org/officeDocument/2006/relationships" xmlns:p="http://schemas.openxmlformats.org/presentationml/2006/main">
  <p:tag name="TIMING" val="|3.5"/>
</p:tagLst>
</file>

<file path=ppt/tags/tag4.xml><?xml version="1.0" encoding="utf-8"?>
<p:tagLst xmlns:a="http://schemas.openxmlformats.org/drawingml/2006/main" xmlns:r="http://schemas.openxmlformats.org/officeDocument/2006/relationships" xmlns:p="http://schemas.openxmlformats.org/presentationml/2006/main">
  <p:tag name="TIMING" val="|4.6|4|9.7"/>
</p:tagLst>
</file>

<file path=ppt/tags/tag5.xml><?xml version="1.0" encoding="utf-8"?>
<p:tagLst xmlns:a="http://schemas.openxmlformats.org/drawingml/2006/main" xmlns:r="http://schemas.openxmlformats.org/officeDocument/2006/relationships" xmlns:p="http://schemas.openxmlformats.org/presentationml/2006/main">
  <p:tag name="TIMING" val="|4.6|4|9.7"/>
</p:tagLst>
</file>

<file path=ppt/tags/tag6.xml><?xml version="1.0" encoding="utf-8"?>
<p:tagLst xmlns:a="http://schemas.openxmlformats.org/drawingml/2006/main" xmlns:r="http://schemas.openxmlformats.org/officeDocument/2006/relationships" xmlns:p="http://schemas.openxmlformats.org/presentationml/2006/main">
  <p:tag name="TIMING" val="|4.6|4|9.7"/>
</p:tagLst>
</file>

<file path=ppt/tags/tag7.xml><?xml version="1.0" encoding="utf-8"?>
<p:tagLst xmlns:a="http://schemas.openxmlformats.org/drawingml/2006/main" xmlns:r="http://schemas.openxmlformats.org/officeDocument/2006/relationships" xmlns:p="http://schemas.openxmlformats.org/presentationml/2006/main">
  <p:tag name="TIMING" val="|4.6|4|9.7"/>
</p:tagLst>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690</TotalTime>
  <Words>459</Words>
  <Application>Microsoft Office PowerPoint</Application>
  <PresentationFormat>Widescreen</PresentationFormat>
  <Paragraphs>46</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Neue Haas Grotesk Text Pro</vt:lpstr>
      <vt:lpstr>VanillaVTI</vt:lpstr>
      <vt:lpstr>How To Amend And Improve Tests And Code</vt:lpstr>
      <vt:lpstr>Current Tests</vt:lpstr>
      <vt:lpstr>Amend and Improve</vt:lpstr>
      <vt:lpstr>Amend Tests</vt:lpstr>
      <vt:lpstr>Improve Tests</vt:lpstr>
      <vt:lpstr>Improve Tests</vt:lpstr>
      <vt:lpstr>Amend Code</vt:lpstr>
      <vt:lpstr>Improve Code</vt:lpstr>
      <vt:lpstr>Next Step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Keanu Ellary</dc:creator>
  <cp:lastModifiedBy>Yuthika Harripersad</cp:lastModifiedBy>
  <cp:revision>5</cp:revision>
  <dcterms:created xsi:type="dcterms:W3CDTF">2026-03-27T11:26:18Z</dcterms:created>
  <dcterms:modified xsi:type="dcterms:W3CDTF">2026-04-18T23:43:29Z</dcterms:modified>
</cp:coreProperties>
</file>