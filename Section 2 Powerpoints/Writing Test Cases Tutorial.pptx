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6"/>
  </p:notesMasterIdLst>
  <p:sldIdLst>
    <p:sldId id="256" r:id="rId2"/>
    <p:sldId id="260" r:id="rId3"/>
    <p:sldId id="261" r:id="rId4"/>
    <p:sldId id="264" r:id="rId5"/>
    <p:sldId id="263" r:id="rId6"/>
    <p:sldId id="270" r:id="rId7"/>
    <p:sldId id="277" r:id="rId8"/>
    <p:sldId id="274" r:id="rId9"/>
    <p:sldId id="275" r:id="rId10"/>
    <p:sldId id="276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  <a:srgbClr val="05002A"/>
    <a:srgbClr val="0D0D0D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DA372-C74F-4B1D-B66F-09BD8F78D11D}" v="163" dt="2026-03-28T13:02:40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3398" autoAdjust="0"/>
  </p:normalViewPr>
  <p:slideViewPr>
    <p:cSldViewPr snapToGrid="0">
      <p:cViewPr varScale="1">
        <p:scale>
          <a:sx n="47" d="100"/>
          <a:sy n="47" d="100"/>
        </p:scale>
        <p:origin x="20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EA29D-3C00-4008-9C10-43E7EBB389A1}" type="datetimeFigureOut">
              <a:rPr lang="en-ZA" smtClean="0"/>
              <a:t>2026/04/19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B95AE-DBFC-43E2-AB60-BB0D5F0DC0C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435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the previous section, we identified our functional requirements and categorised them into 4 groups.</a:t>
            </a:r>
            <a:br>
              <a:rPr lang="en-GB" dirty="0"/>
            </a:br>
            <a:r>
              <a:rPr lang="en-GB" dirty="0"/>
              <a:t>In this tutorial, we’ll learn how to create tests for each of these groups.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204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Before we can write any tests, you need to decide on a programming language and testing framework in order to write and run any tests easily. </a:t>
            </a:r>
          </a:p>
          <a:p>
            <a:r>
              <a:rPr lang="en-GB" dirty="0"/>
              <a:t>In the code snippets I display on screen, Python and </a:t>
            </a:r>
            <a:r>
              <a:rPr lang="en-GB" dirty="0" err="1"/>
              <a:t>pytest</a:t>
            </a:r>
            <a:r>
              <a:rPr lang="en-GB" dirty="0"/>
              <a:t> will be used as the testing framework.</a:t>
            </a:r>
          </a:p>
          <a:p>
            <a:endParaRPr lang="en-GB" dirty="0"/>
          </a:p>
          <a:p>
            <a:r>
              <a:rPr lang="en-GB" dirty="0"/>
              <a:t>Why use a testing framework?</a:t>
            </a:r>
          </a:p>
          <a:p>
            <a:pPr marL="171450" indent="-171450">
              <a:buFontTx/>
              <a:buChar char="-"/>
            </a:pPr>
            <a:r>
              <a:rPr lang="en-GB" dirty="0"/>
              <a:t>Provide a structured environment that simplifies the creation, execution and maintenance of automated testing</a:t>
            </a:r>
          </a:p>
          <a:p>
            <a:pPr marL="171450" indent="-171450">
              <a:buFontTx/>
              <a:buChar char="-"/>
            </a:pPr>
            <a:r>
              <a:rPr lang="en-GB" dirty="0"/>
              <a:t>Frameworks often include built-in reporting tools that generate detailed summaries and details about test failures.</a:t>
            </a:r>
          </a:p>
          <a:p>
            <a:pPr marL="171450" indent="-171450">
              <a:buFontTx/>
              <a:buChar char="-"/>
            </a:pPr>
            <a:r>
              <a:rPr lang="en-GB" dirty="0"/>
              <a:t>Designed to be easily integrated into CI/CD pipelines, ensuring testing automation where developers can catch bugs before it reaches production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0688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are going to write our first test cases.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we write a single line of test code, I want to show you something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Important, and that is how our functional requirements from Section 1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directly into our test file structure.</a:t>
            </a:r>
          </a:p>
          <a:p>
            <a:endParaRPr lang="en-GB" sz="1400" dirty="0"/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look at Section 1, we grouped our requirements into categories: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Input handling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Arithmetic operations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Output constraints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Error handling</a:t>
            </a:r>
          </a:p>
          <a:p>
            <a:endParaRPr lang="en-GB" sz="1400" dirty="0"/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of those categories becomes a test class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requirement inside that category becomes two or more test functions, as we have to test for the success and failure cases for each.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 us see how this will look like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8667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we write tests, let me explain what a test actually is in three steps: arrange, act, assert.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Arrange: set up the inputs you need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Act: call the function you are testing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Assert: check the result is what you expected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an additional step when beginning, the name of each test must be describe what is being tested.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use these steps for test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4076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Looking at our first category from our functional requirements, each of these points listed will have a success and failure test case.</a:t>
            </a:r>
          </a:p>
          <a:p>
            <a:endParaRPr lang="en-ZA" dirty="0"/>
          </a:p>
          <a:p>
            <a:r>
              <a:rPr lang="en-ZA" dirty="0"/>
              <a:t>For now the failure test cases will be discussed later on in the error handling section.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1758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Looking at addition, lets start with the first step: arrange</a:t>
            </a:r>
          </a:p>
          <a:p>
            <a:r>
              <a:rPr lang="en-ZA" dirty="0"/>
              <a:t>This is a pretty simple step, where we just identify the input that should result in a successful test case.</a:t>
            </a:r>
          </a:p>
          <a:p>
            <a:r>
              <a:rPr lang="en-ZA" dirty="0"/>
              <a:t>Next: Act</a:t>
            </a:r>
          </a:p>
          <a:p>
            <a:r>
              <a:rPr lang="en-ZA" dirty="0"/>
              <a:t>This is where we call the </a:t>
            </a:r>
            <a:r>
              <a:rPr lang="en-ZA" dirty="0" err="1"/>
              <a:t>perform_addition</a:t>
            </a:r>
            <a:r>
              <a:rPr lang="en-ZA" dirty="0"/>
              <a:t> function that will use the inputs we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7216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Looking at addition, lets start with the first step: arrange</a:t>
            </a:r>
          </a:p>
          <a:p>
            <a:r>
              <a:rPr lang="en-ZA" dirty="0"/>
              <a:t>This is a pretty simple step, where we just identify the input that should result in a successful test case.</a:t>
            </a:r>
          </a:p>
          <a:p>
            <a:r>
              <a:rPr lang="en-ZA" dirty="0"/>
              <a:t>Next: Act</a:t>
            </a:r>
          </a:p>
          <a:p>
            <a:r>
              <a:rPr lang="en-ZA" dirty="0"/>
              <a:t>This is where we call the </a:t>
            </a:r>
            <a:r>
              <a:rPr lang="en-ZA" dirty="0" err="1"/>
              <a:t>perform_addition</a:t>
            </a:r>
            <a:r>
              <a:rPr lang="en-ZA" dirty="0"/>
              <a:t> function that will use the inputs we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1767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Lastly, Assert</a:t>
            </a:r>
          </a:p>
          <a:p>
            <a:r>
              <a:rPr lang="en-ZA" dirty="0"/>
              <a:t>This is where check if the result from the function we called is correct. For this test case, 1+1 has to equal 2.</a:t>
            </a:r>
          </a:p>
          <a:p>
            <a:endParaRPr lang="en-ZA" dirty="0"/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it. Three lines of logic.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test passes if the assertion is true.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test fails if the assertion is false, or if the function raises an unexpected error.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7576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The same steps can be used to test that addition works with more complex hexadecimal values.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6160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These 2 tests setup can be used for the other arithmetic functions, with the relevant input, function and expected result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9230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Moving on to our second category, input handling.</a:t>
            </a:r>
          </a:p>
          <a:p>
            <a:r>
              <a:rPr lang="en-ZA" dirty="0"/>
              <a:t>This is where we ensure the values sent to our arithmetic operations are valid.</a:t>
            </a:r>
          </a:p>
          <a:p>
            <a:endParaRPr lang="en-ZA" dirty="0"/>
          </a:p>
          <a:p>
            <a:r>
              <a:rPr lang="en-ZA" dirty="0"/>
              <a:t>The same steps discussed and used will also be used in this scenario, where we create test cases to check that valid input will return the correct result.</a:t>
            </a:r>
          </a:p>
          <a:p>
            <a:r>
              <a:rPr lang="en-ZA" dirty="0"/>
              <a:t>This category will use separate functions for each point identified, and the failure cases can also be included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4199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Now, moving on to our third category, output handling.</a:t>
            </a:r>
          </a:p>
          <a:p>
            <a:r>
              <a:rPr lang="en-ZA" dirty="0"/>
              <a:t>This is where we ensure the values returned from our arithmetic operations are valid.</a:t>
            </a:r>
          </a:p>
          <a:p>
            <a:endParaRPr lang="en-ZA" dirty="0"/>
          </a:p>
          <a:p>
            <a:r>
              <a:rPr lang="en-ZA" dirty="0"/>
              <a:t>Again, the same 3 steps discussed will also be used in this scenario.</a:t>
            </a:r>
          </a:p>
          <a:p>
            <a:r>
              <a:rPr lang="en-ZA" dirty="0"/>
              <a:t>This category will only discuss the success cases for now, as failure cases will be handled in the error handling section.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9151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finally our last category: Error handling.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category ensures errors are raised correctly, from arithmetic operations to output handling.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case listed must be tested to ensure an error is raised.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test cases use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pytest.raises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tells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I expect this code to raise a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ValueError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it does, the test passes.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it does not raise anything, or raises the wrong error, the test fails.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3728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Test cases have been written.</a:t>
            </a:r>
          </a:p>
          <a:p>
            <a:r>
              <a:rPr lang="en-GB" dirty="0"/>
              <a:t>The next step is to draft the code to ensure all these test cases pass.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95AE-DBFC-43E2-AB60-BB0D5F0DC0C2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1088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4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2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9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5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5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9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1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1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2.pn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3.svg"/><Relationship Id="rId5" Type="http://schemas.openxmlformats.org/officeDocument/2006/relationships/image" Target="../media/image13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6.svg"/><Relationship Id="rId5" Type="http://schemas.openxmlformats.org/officeDocument/2006/relationships/image" Target="../media/image3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6.svg"/><Relationship Id="rId5" Type="http://schemas.openxmlformats.org/officeDocument/2006/relationships/image" Target="../media/image3.sv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D5EEE9-A7CA-90B0-45CD-99D2CDF397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625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5C9618-26E7-1194-760B-194CF9619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How To Create Tests</a:t>
            </a:r>
            <a:endParaRPr lang="en-ZA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9EF0F-9936-B45E-946A-1E3098CDA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ZA" sz="2200" dirty="0">
                <a:solidFill>
                  <a:srgbClr val="FFFFFF"/>
                </a:solidFill>
              </a:rPr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2141455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Tm="2505">
        <p:fade/>
      </p:transition>
    </mc:Choice>
    <mc:Fallback xmlns="">
      <p:transition spd="med" advTm="250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1592E-085E-FE48-23EA-8551ACEE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Setup</a:t>
            </a:r>
            <a:endParaRPr lang="en-ZA" sz="5400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82DF-CCB3-3BED-1347-2B178489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524000"/>
            <a:ext cx="10653579" cy="4785361"/>
          </a:xfrm>
        </p:spPr>
        <p:txBody>
          <a:bodyPr/>
          <a:lstStyle/>
          <a:p>
            <a:r>
              <a:rPr lang="en-ZA" sz="2400" dirty="0">
                <a:solidFill>
                  <a:schemeClr val="bg1"/>
                </a:solidFill>
              </a:rPr>
              <a:t>Decide on a programming language (python, java, etc.)</a:t>
            </a:r>
          </a:p>
          <a:p>
            <a:r>
              <a:rPr lang="en-ZA" sz="2400" dirty="0">
                <a:solidFill>
                  <a:schemeClr val="bg1"/>
                </a:solidFill>
              </a:rPr>
              <a:t>Install a testing framework for unit tests (</a:t>
            </a:r>
            <a:r>
              <a:rPr lang="en-ZA" sz="2400" dirty="0" err="1">
                <a:solidFill>
                  <a:schemeClr val="bg1"/>
                </a:solidFill>
              </a:rPr>
              <a:t>pytest</a:t>
            </a:r>
            <a:r>
              <a:rPr lang="en-ZA" sz="2400" dirty="0">
                <a:solidFill>
                  <a:schemeClr val="bg1"/>
                </a:solidFill>
              </a:rPr>
              <a:t>, jest, etc.)</a:t>
            </a:r>
          </a:p>
          <a:p>
            <a:r>
              <a:rPr lang="en-ZA" sz="2400" dirty="0">
                <a:solidFill>
                  <a:schemeClr val="bg1"/>
                </a:solidFill>
              </a:rPr>
              <a:t>Why use a testing framework?</a:t>
            </a:r>
          </a:p>
          <a:p>
            <a:pPr lvl="1"/>
            <a:r>
              <a:rPr lang="en-ZA" sz="2200" dirty="0">
                <a:solidFill>
                  <a:schemeClr val="bg1"/>
                </a:solidFill>
              </a:rPr>
              <a:t>Simplifies the creation, execution and maintenance of tests</a:t>
            </a:r>
          </a:p>
          <a:p>
            <a:pPr lvl="1"/>
            <a:r>
              <a:rPr lang="en-ZA" sz="2200" dirty="0">
                <a:solidFill>
                  <a:schemeClr val="bg1"/>
                </a:solidFill>
              </a:rPr>
              <a:t>Built-in reporting tools that generate detailed summaries </a:t>
            </a:r>
          </a:p>
          <a:p>
            <a:pPr lvl="1"/>
            <a:r>
              <a:rPr lang="en-ZA" sz="2200" dirty="0">
                <a:solidFill>
                  <a:schemeClr val="bg1"/>
                </a:solidFill>
              </a:rPr>
              <a:t>Easily integrated into CI/CD pipelines</a:t>
            </a:r>
          </a:p>
          <a:p>
            <a:endParaRPr lang="en-ZA" dirty="0">
              <a:solidFill>
                <a:schemeClr val="bg1"/>
              </a:solidFill>
            </a:endParaRPr>
          </a:p>
        </p:txBody>
      </p:sp>
      <p:pic>
        <p:nvPicPr>
          <p:cNvPr id="6" name="Graphic 5" descr="Circles radiating out from a central point">
            <a:extLst>
              <a:ext uri="{FF2B5EF4-FFF2-40B4-BE49-F238E27FC236}">
                <a16:creationId xmlns:a16="http://schemas.microsoft.com/office/drawing/2014/main" id="{932831DC-BC7E-8246-7CB3-8432CD3C3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3561" y="-781196"/>
            <a:ext cx="3025329" cy="3025329"/>
          </a:xfrm>
          <a:prstGeom prst="rect">
            <a:avLst/>
          </a:prstGeom>
        </p:spPr>
      </p:pic>
      <p:pic>
        <p:nvPicPr>
          <p:cNvPr id="7" name="Graphic 6" descr="Decorative circles">
            <a:extLst>
              <a:ext uri="{FF2B5EF4-FFF2-40B4-BE49-F238E27FC236}">
                <a16:creationId xmlns:a16="http://schemas.microsoft.com/office/drawing/2014/main" id="{BD237914-813A-6E46-8806-D9AA3909D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53669" y="4949660"/>
            <a:ext cx="3412137" cy="3412137"/>
          </a:xfrm>
          <a:prstGeom prst="rect">
            <a:avLst/>
          </a:prstGeom>
        </p:spPr>
      </p:pic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C39B5A1F-E4A7-F00E-4DB6-E24858818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4125804"/>
            <a:ext cx="3412137" cy="3412137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7AE23250-F618-9ED4-454B-1C2778BA2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8468" y="3878514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FF38BF6A-FA48-1C8D-512A-931A62A299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4289" y="4726936"/>
            <a:ext cx="3412137" cy="34121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9422957"/>
      </p:ext>
    </p:extLst>
  </p:cSld>
  <p:clrMapOvr>
    <a:masterClrMapping/>
  </p:clrMapOvr>
  <p:transition spd="slow" advTm="2982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9D001-F1E8-C60B-86AE-33D5FF62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6B1B-3067-B0A9-A5C6-4C34FF23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7AAA-CD14-144B-DD26-9E2BD851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76345"/>
            <a:ext cx="5483352" cy="5229255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Arithmetic Calculations: 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Perform basic arithmetic functions:</a:t>
            </a:r>
          </a:p>
          <a:p>
            <a:pPr lvl="2"/>
            <a:r>
              <a:rPr lang="en-ZA" dirty="0">
                <a:solidFill>
                  <a:schemeClr val="bg1"/>
                </a:solidFill>
              </a:rPr>
              <a:t>Perform addition </a:t>
            </a:r>
          </a:p>
          <a:p>
            <a:pPr lvl="2"/>
            <a:r>
              <a:rPr lang="en-ZA" dirty="0">
                <a:solidFill>
                  <a:schemeClr val="bg1"/>
                </a:solidFill>
              </a:rPr>
              <a:t>Perform subtraction </a:t>
            </a:r>
          </a:p>
          <a:p>
            <a:pPr lvl="2"/>
            <a:r>
              <a:rPr lang="en-ZA" dirty="0">
                <a:solidFill>
                  <a:schemeClr val="bg1"/>
                </a:solidFill>
              </a:rPr>
              <a:t>Perform multiplication </a:t>
            </a:r>
          </a:p>
          <a:p>
            <a:pPr lvl="2"/>
            <a:r>
              <a:rPr lang="en-ZA" dirty="0">
                <a:solidFill>
                  <a:schemeClr val="bg1"/>
                </a:solidFill>
              </a:rPr>
              <a:t>Perform division </a:t>
            </a:r>
          </a:p>
          <a:p>
            <a:r>
              <a:rPr lang="en-ZA" dirty="0">
                <a:solidFill>
                  <a:schemeClr val="bg1"/>
                </a:solidFill>
              </a:rPr>
              <a:t>Input Handling: 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Accept input 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 Input must be 1 or 2 digits 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Input must contain valid hexadecimal numbers </a:t>
            </a:r>
          </a:p>
          <a:p>
            <a:pPr lvl="1"/>
            <a:r>
              <a:rPr lang="en-ZA" dirty="0">
                <a:solidFill>
                  <a:schemeClr val="bg1"/>
                </a:solidFill>
              </a:rPr>
              <a:t>Input must include a valid operator (+, -, /, *)</a:t>
            </a:r>
          </a:p>
        </p:txBody>
      </p:sp>
      <p:pic>
        <p:nvPicPr>
          <p:cNvPr id="8" name="Graphic 7" descr="Circles radiating out from a central point">
            <a:extLst>
              <a:ext uri="{FF2B5EF4-FFF2-40B4-BE49-F238E27FC236}">
                <a16:creationId xmlns:a16="http://schemas.microsoft.com/office/drawing/2014/main" id="{7A74F728-41DD-500F-50EC-7386B41D5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512665" y="5345335"/>
            <a:ext cx="3025329" cy="3025329"/>
          </a:xfrm>
          <a:prstGeom prst="rect">
            <a:avLst/>
          </a:prstGeom>
        </p:spPr>
      </p:pic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05654B75-70E1-47C5-40BB-9BE5431FE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977032">
            <a:off x="9723458" y="-2076305"/>
            <a:ext cx="4152611" cy="4152611"/>
          </a:xfrm>
          <a:prstGeom prst="rect">
            <a:avLst/>
          </a:prstGeom>
        </p:spPr>
      </p:pic>
      <p:pic>
        <p:nvPicPr>
          <p:cNvPr id="10" name="Graphic 9" descr="Circles radiating out from a central point">
            <a:extLst>
              <a:ext uri="{FF2B5EF4-FFF2-40B4-BE49-F238E27FC236}">
                <a16:creationId xmlns:a16="http://schemas.microsoft.com/office/drawing/2014/main" id="{8C77D16E-DE74-23A1-CE62-C228DD0F1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5627" y="-1910560"/>
            <a:ext cx="3025329" cy="3025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4BBE56-442E-9F68-1ABF-97CB85A247FB}"/>
              </a:ext>
            </a:extLst>
          </p:cNvPr>
          <p:cNvSpPr txBox="1"/>
          <p:nvPr/>
        </p:nvSpPr>
        <p:spPr>
          <a:xfrm>
            <a:off x="6096000" y="1476345"/>
            <a:ext cx="57591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Output Handling: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Return and display output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Output must be less than 5 digits (&lt;=4)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Output must not be negative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Output must not contain decimal places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Error Handling: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Invalid hexadecimal input must return an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Missing or invalid operator must return an error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Input exceeding 2 digits must return an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Division by zero must return an error 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Output that is greater than 4 digits will return an error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Output that is negative will return an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Output with decimal places will return an error </a:t>
            </a:r>
            <a:endParaRPr lang="en-ZA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244124"/>
      </p:ext>
    </p:extLst>
  </p:cSld>
  <p:clrMapOvr>
    <a:masterClrMapping/>
  </p:clrMapOvr>
  <p:transition spd="slow" advTm="86296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B155B-DF86-CB21-EC6B-4D1392FB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489C-46E3-1607-8C0F-E1A0BF4B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Steps for each test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1218E-FACC-53A6-19C7-9DE0AAA90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663" y="1892968"/>
            <a:ext cx="10037563" cy="4416392"/>
          </a:xfrm>
        </p:spPr>
        <p:txBody>
          <a:bodyPr>
            <a:normAutofit/>
          </a:bodyPr>
          <a:lstStyle/>
          <a:p>
            <a:r>
              <a:rPr lang="en-ZA" sz="2400" dirty="0">
                <a:solidFill>
                  <a:schemeClr val="bg1"/>
                </a:solidFill>
              </a:rPr>
              <a:t>Arrange</a:t>
            </a:r>
          </a:p>
          <a:p>
            <a:pPr lvl="1"/>
            <a:r>
              <a:rPr lang="en-ZA" sz="2400" dirty="0">
                <a:solidFill>
                  <a:schemeClr val="bg1"/>
                </a:solidFill>
              </a:rPr>
              <a:t>Setup the inputs needed</a:t>
            </a:r>
          </a:p>
          <a:p>
            <a:r>
              <a:rPr lang="en-ZA" sz="2400" dirty="0">
                <a:solidFill>
                  <a:schemeClr val="bg1"/>
                </a:solidFill>
              </a:rPr>
              <a:t>Act</a:t>
            </a:r>
          </a:p>
          <a:p>
            <a:pPr lvl="1"/>
            <a:r>
              <a:rPr lang="en-ZA" sz="2400" dirty="0">
                <a:solidFill>
                  <a:schemeClr val="bg1"/>
                </a:solidFill>
              </a:rPr>
              <a:t>Call the function being tested</a:t>
            </a:r>
          </a:p>
          <a:p>
            <a:r>
              <a:rPr lang="en-ZA" sz="2400" dirty="0">
                <a:solidFill>
                  <a:schemeClr val="bg1"/>
                </a:solidFill>
              </a:rPr>
              <a:t>Assert</a:t>
            </a:r>
          </a:p>
          <a:p>
            <a:pPr lvl="1"/>
            <a:r>
              <a:rPr lang="en-ZA" sz="2400" dirty="0">
                <a:solidFill>
                  <a:schemeClr val="bg1"/>
                </a:solidFill>
              </a:rPr>
              <a:t>Check the result is what you expect</a:t>
            </a:r>
          </a:p>
        </p:txBody>
      </p:sp>
      <p:pic>
        <p:nvPicPr>
          <p:cNvPr id="6" name="Graphic 5" descr="Decorative circles">
            <a:extLst>
              <a:ext uri="{FF2B5EF4-FFF2-40B4-BE49-F238E27FC236}">
                <a16:creationId xmlns:a16="http://schemas.microsoft.com/office/drawing/2014/main" id="{5ABB9339-F4D8-2B8F-6D2B-DDA018B85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977032">
            <a:off x="9503047" y="4077522"/>
            <a:ext cx="4152611" cy="4152611"/>
          </a:xfrm>
          <a:prstGeom prst="rect">
            <a:avLst/>
          </a:prstGeom>
        </p:spPr>
      </p:pic>
      <p:pic>
        <p:nvPicPr>
          <p:cNvPr id="7" name="Graphic 6" descr="Circles radiating out from a central point">
            <a:extLst>
              <a:ext uri="{FF2B5EF4-FFF2-40B4-BE49-F238E27FC236}">
                <a16:creationId xmlns:a16="http://schemas.microsoft.com/office/drawing/2014/main" id="{07B766F2-DE1E-5A1E-5EC7-F8E94A35F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01045">
            <a:off x="10539622" y="2499782"/>
            <a:ext cx="3025329" cy="3025329"/>
          </a:xfrm>
          <a:prstGeom prst="rect">
            <a:avLst/>
          </a:prstGeom>
        </p:spPr>
      </p:pic>
      <p:pic>
        <p:nvPicPr>
          <p:cNvPr id="8" name="Graphic 7" descr="Circles radiating out from a central point">
            <a:extLst>
              <a:ext uri="{FF2B5EF4-FFF2-40B4-BE49-F238E27FC236}">
                <a16:creationId xmlns:a16="http://schemas.microsoft.com/office/drawing/2014/main" id="{7FB40E8A-AE7B-E9DE-05F6-F00184816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01045">
            <a:off x="7746574" y="5068788"/>
            <a:ext cx="3025329" cy="3025329"/>
          </a:xfrm>
          <a:prstGeom prst="rect">
            <a:avLst/>
          </a:prstGeom>
        </p:spPr>
      </p:pic>
      <p:pic>
        <p:nvPicPr>
          <p:cNvPr id="10" name="Graphic 9" descr="A calculator">
            <a:extLst>
              <a:ext uri="{FF2B5EF4-FFF2-40B4-BE49-F238E27FC236}">
                <a16:creationId xmlns:a16="http://schemas.microsoft.com/office/drawing/2014/main" id="{026A5BEB-CEF2-F244-FA7F-074A5C05FD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8063" y="599605"/>
            <a:ext cx="5851289" cy="5851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5732629"/>
      </p:ext>
    </p:extLst>
  </p:cSld>
  <p:clrMapOvr>
    <a:masterClrMapping/>
  </p:clrMapOvr>
  <p:transition spd="slow" advTm="28992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B4A8-15FD-8255-53F2-33F1E27E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36E7-9706-A003-19CA-6DCE07E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Arithmetic Calculations</a:t>
            </a:r>
          </a:p>
        </p:txBody>
      </p:sp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154D1BBA-724B-7668-7555-CE1E0E22D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497" y="-1745694"/>
            <a:ext cx="3721839" cy="3721839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1A5EC215-A08A-AEA8-2E7C-D6496B90A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973" y="-1283991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0EFA8F83-934A-A65E-D0C5-8B77AA19E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8812" y="-139398"/>
            <a:ext cx="3721839" cy="37218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24CA46-B723-855B-2DC9-BBB3E6BAF951}"/>
              </a:ext>
            </a:extLst>
          </p:cNvPr>
          <p:cNvSpPr txBox="1"/>
          <p:nvPr/>
        </p:nvSpPr>
        <p:spPr>
          <a:xfrm>
            <a:off x="1002102" y="2612945"/>
            <a:ext cx="76841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Perform basic arithmetic functions: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Perform addition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Perform subtraction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Perform multiplication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Perform division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597822"/>
      </p:ext>
    </p:extLst>
  </p:cSld>
  <p:clrMapOvr>
    <a:masterClrMapping/>
  </p:clrMapOvr>
  <p:transition spd="slow" advTm="2349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B4A8-15FD-8255-53F2-33F1E27E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36E7-9706-A003-19CA-6DCE07E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Arithmetic Calculations</a:t>
            </a:r>
          </a:p>
        </p:txBody>
      </p:sp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154D1BBA-724B-7668-7555-CE1E0E22D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497" y="-1745694"/>
            <a:ext cx="3721839" cy="3721839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1A5EC215-A08A-AEA8-2E7C-D6496B90A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973" y="-1283991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0EFA8F83-934A-A65E-D0C5-8B77AA19E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8812" y="-139398"/>
            <a:ext cx="3721839" cy="3721839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CCFB378-BF1F-A13D-7B83-4CB4383F6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7" y="2335996"/>
            <a:ext cx="3886201" cy="3484516"/>
          </a:xfrm>
        </p:spPr>
        <p:txBody>
          <a:bodyPr/>
          <a:lstStyle/>
          <a:p>
            <a:r>
              <a:rPr lang="en-ZA" sz="2400" dirty="0">
                <a:solidFill>
                  <a:schemeClr val="bg1"/>
                </a:solidFill>
              </a:rPr>
              <a:t>Arrange</a:t>
            </a:r>
          </a:p>
          <a:p>
            <a:endParaRPr lang="en-ZA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9B8690-1CB4-82C8-F7C3-DBC8D0CB1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024" y="3065147"/>
            <a:ext cx="8918085" cy="16647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9359361"/>
      </p:ext>
    </p:extLst>
  </p:cSld>
  <p:clrMapOvr>
    <a:masterClrMapping/>
  </p:clrMapOvr>
  <p:transition spd="slow" advTm="2349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B4A8-15FD-8255-53F2-33F1E27E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36E7-9706-A003-19CA-6DCE07E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Arithmetic Calculations</a:t>
            </a:r>
          </a:p>
        </p:txBody>
      </p:sp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154D1BBA-724B-7668-7555-CE1E0E22D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497" y="-1745694"/>
            <a:ext cx="3721839" cy="3721839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1A5EC215-A08A-AEA8-2E7C-D6496B90A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973" y="-1283991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0EFA8F83-934A-A65E-D0C5-8B77AA19E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8812" y="-139398"/>
            <a:ext cx="3721839" cy="372183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4EBF058-15F3-9C33-B2F4-BD754597B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636958" y="3128423"/>
            <a:ext cx="8918084" cy="1664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44FED-FBC5-AB6C-F40E-B888F9481091}"/>
              </a:ext>
            </a:extLst>
          </p:cNvPr>
          <p:cNvSpPr txBox="1"/>
          <p:nvPr/>
        </p:nvSpPr>
        <p:spPr>
          <a:xfrm>
            <a:off x="857250" y="2433350"/>
            <a:ext cx="8539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Act</a:t>
            </a:r>
            <a:endParaRPr lang="en-ZA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833108"/>
      </p:ext>
    </p:extLst>
  </p:cSld>
  <p:clrMapOvr>
    <a:masterClrMapping/>
  </p:clrMapOvr>
  <p:transition spd="slow" advTm="2349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B4A8-15FD-8255-53F2-33F1E27E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36E7-9706-A003-19CA-6DCE07E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Arithmetic Calculations</a:t>
            </a:r>
          </a:p>
        </p:txBody>
      </p:sp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154D1BBA-724B-7668-7555-CE1E0E22D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497" y="-1745694"/>
            <a:ext cx="3721839" cy="3721839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1A5EC215-A08A-AEA8-2E7C-D6496B90A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973" y="-1283991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0EFA8F83-934A-A65E-D0C5-8B77AA19E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8812" y="-139398"/>
            <a:ext cx="3721839" cy="372183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C2843-4881-0431-D921-0B24BDAE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437848"/>
            <a:ext cx="10653579" cy="3871512"/>
          </a:xfrm>
        </p:spPr>
        <p:txBody>
          <a:bodyPr/>
          <a:lstStyle/>
          <a:p>
            <a:r>
              <a:rPr lang="en-ZA" dirty="0">
                <a:solidFill>
                  <a:schemeClr val="bg1"/>
                </a:solidFill>
              </a:rPr>
              <a:t>Assert</a:t>
            </a:r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4702A-93BE-1737-70C3-38F2FE86C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688" y="3143037"/>
            <a:ext cx="9476623" cy="17689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2443013"/>
      </p:ext>
    </p:extLst>
  </p:cSld>
  <p:clrMapOvr>
    <a:masterClrMapping/>
  </p:clrMapOvr>
  <p:transition spd="slow" advTm="2349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B4A8-15FD-8255-53F2-33F1E27E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36E7-9706-A003-19CA-6DCE07E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Arithmetic Calculations</a:t>
            </a:r>
          </a:p>
        </p:txBody>
      </p:sp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154D1BBA-724B-7668-7555-CE1E0E22D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497" y="-1745694"/>
            <a:ext cx="3721839" cy="3721839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1A5EC215-A08A-AEA8-2E7C-D6496B90A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973" y="-1283991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0EFA8F83-934A-A65E-D0C5-8B77AA19E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8812" y="-139398"/>
            <a:ext cx="3721839" cy="372183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C2843-4881-0431-D921-0B24BDAE6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DB197-F532-E82C-BCF6-B30476DFF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829" y="2897204"/>
            <a:ext cx="8894341" cy="20486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2761642"/>
      </p:ext>
    </p:extLst>
  </p:cSld>
  <p:clrMapOvr>
    <a:masterClrMapping/>
  </p:clrMapOvr>
  <p:transition spd="slow" advTm="2349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B4A8-15FD-8255-53F2-33F1E27E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36E7-9706-A003-19CA-6DCE07EE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Arithmetic Calculations</a:t>
            </a:r>
          </a:p>
        </p:txBody>
      </p:sp>
      <p:pic>
        <p:nvPicPr>
          <p:cNvPr id="9" name="Graphic 8" descr="Decorative circles">
            <a:extLst>
              <a:ext uri="{FF2B5EF4-FFF2-40B4-BE49-F238E27FC236}">
                <a16:creationId xmlns:a16="http://schemas.microsoft.com/office/drawing/2014/main" id="{154D1BBA-724B-7668-7555-CE1E0E22D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497" y="-1745694"/>
            <a:ext cx="3721839" cy="3721839"/>
          </a:xfrm>
          <a:prstGeom prst="rect">
            <a:avLst/>
          </a:prstGeom>
        </p:spPr>
      </p:pic>
      <p:pic>
        <p:nvPicPr>
          <p:cNvPr id="10" name="Graphic 9" descr="Decorative circles">
            <a:extLst>
              <a:ext uri="{FF2B5EF4-FFF2-40B4-BE49-F238E27FC236}">
                <a16:creationId xmlns:a16="http://schemas.microsoft.com/office/drawing/2014/main" id="{1A5EC215-A08A-AEA8-2E7C-D6496B90A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973" y="-1283991"/>
            <a:ext cx="3412137" cy="3412137"/>
          </a:xfrm>
          <a:prstGeom prst="rect">
            <a:avLst/>
          </a:prstGeom>
        </p:spPr>
      </p:pic>
      <p:pic>
        <p:nvPicPr>
          <p:cNvPr id="11" name="Graphic 10" descr="Decorative circles">
            <a:extLst>
              <a:ext uri="{FF2B5EF4-FFF2-40B4-BE49-F238E27FC236}">
                <a16:creationId xmlns:a16="http://schemas.microsoft.com/office/drawing/2014/main" id="{0EFA8F83-934A-A65E-D0C5-8B77AA19E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8812" y="-139398"/>
            <a:ext cx="3721839" cy="372183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006CDD-30FE-031B-1902-CDF460F2D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656741" y="2346500"/>
            <a:ext cx="8878517" cy="1614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9DB197-F532-E82C-BCF6-B30476DFF3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6740" y="4179131"/>
            <a:ext cx="8892071" cy="20481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6975984"/>
      </p:ext>
    </p:extLst>
  </p:cSld>
  <p:clrMapOvr>
    <a:masterClrMapping/>
  </p:clrMapOvr>
  <p:transition spd="slow" advTm="2349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98E35-FA48-8B9B-0405-D38B02C0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1855-5CFF-C901-2CC3-9D4B4CF3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Input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E7764-3B60-4AE5-2173-B4B44ED7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471" y="1374166"/>
            <a:ext cx="10653579" cy="4207844"/>
          </a:xfrm>
        </p:spPr>
        <p:txBody>
          <a:bodyPr>
            <a:normAutofit/>
          </a:bodyPr>
          <a:lstStyle/>
          <a:p>
            <a:pPr lvl="1"/>
            <a:r>
              <a:rPr lang="en-ZA" sz="2400" dirty="0">
                <a:solidFill>
                  <a:schemeClr val="bg1"/>
                </a:solidFill>
              </a:rPr>
              <a:t>Accept input </a:t>
            </a:r>
          </a:p>
          <a:p>
            <a:pPr lvl="1"/>
            <a:r>
              <a:rPr lang="en-ZA" sz="2400" dirty="0">
                <a:solidFill>
                  <a:schemeClr val="bg1"/>
                </a:solidFill>
              </a:rPr>
              <a:t> Input must be 1 or 2 digits </a:t>
            </a:r>
          </a:p>
          <a:p>
            <a:pPr lvl="1"/>
            <a:r>
              <a:rPr lang="en-ZA" sz="2400" dirty="0">
                <a:solidFill>
                  <a:schemeClr val="bg1"/>
                </a:solidFill>
              </a:rPr>
              <a:t>Input must contain valid hexadecimal numbers </a:t>
            </a:r>
          </a:p>
          <a:p>
            <a:pPr lvl="1"/>
            <a:r>
              <a:rPr lang="en-ZA" sz="2400" dirty="0">
                <a:solidFill>
                  <a:schemeClr val="bg1"/>
                </a:solidFill>
              </a:rPr>
              <a:t>Input must include a valid operator (+, -, /, *)</a:t>
            </a:r>
          </a:p>
        </p:txBody>
      </p:sp>
      <p:pic>
        <p:nvPicPr>
          <p:cNvPr id="7" name="Graphic 6" descr="Decorative circles">
            <a:extLst>
              <a:ext uri="{FF2B5EF4-FFF2-40B4-BE49-F238E27FC236}">
                <a16:creationId xmlns:a16="http://schemas.microsoft.com/office/drawing/2014/main" id="{4D78E568-FB7E-EB98-D84B-583C96234A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9449" y="3896154"/>
            <a:ext cx="3721839" cy="3721839"/>
          </a:xfrm>
          <a:prstGeom prst="rect">
            <a:avLst/>
          </a:prstGeom>
        </p:spPr>
      </p:pic>
      <p:pic>
        <p:nvPicPr>
          <p:cNvPr id="13" name="Graphic 12" descr="Decorative circles">
            <a:extLst>
              <a:ext uri="{FF2B5EF4-FFF2-40B4-BE49-F238E27FC236}">
                <a16:creationId xmlns:a16="http://schemas.microsoft.com/office/drawing/2014/main" id="{C16798F9-77AF-B1C0-88D7-297CD1542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744" y="1737360"/>
            <a:ext cx="4572000" cy="4572000"/>
          </a:xfrm>
          <a:prstGeom prst="rect">
            <a:avLst/>
          </a:prstGeom>
        </p:spPr>
      </p:pic>
      <p:pic>
        <p:nvPicPr>
          <p:cNvPr id="14" name="Graphic 13" descr="Decorative circles">
            <a:extLst>
              <a:ext uri="{FF2B5EF4-FFF2-40B4-BE49-F238E27FC236}">
                <a16:creationId xmlns:a16="http://schemas.microsoft.com/office/drawing/2014/main" id="{90827CF6-639A-96F4-F236-CA2D08453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5180" y="4967447"/>
            <a:ext cx="3412137" cy="3412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FC3123-5FE6-0AA6-5E6E-617B6D6ED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9627" y="3669611"/>
            <a:ext cx="5925646" cy="25956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4105290"/>
      </p:ext>
    </p:extLst>
  </p:cSld>
  <p:clrMapOvr>
    <a:masterClrMapping/>
  </p:clrMapOvr>
  <p:transition spd="slow" advTm="3192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38F17-1486-B5C3-856E-0E7C6EAB2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F72B-75FB-34F1-F2EC-27CE5B7A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Output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3CA80-94AB-A73A-5762-CD511F30A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62" y="1739470"/>
            <a:ext cx="4790379" cy="4207844"/>
          </a:xfrm>
        </p:spPr>
        <p:txBody>
          <a:bodyPr/>
          <a:lstStyle/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Return and display output 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Output must be less than 5 digits (&lt;=4)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Output must not be negative 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Output must not contain decimal places </a:t>
            </a:r>
          </a:p>
          <a:p>
            <a:endParaRPr lang="en-ZA" dirty="0">
              <a:solidFill>
                <a:schemeClr val="bg1"/>
              </a:solidFill>
            </a:endParaRPr>
          </a:p>
          <a:p>
            <a:endParaRPr lang="en-ZA" dirty="0">
              <a:solidFill>
                <a:schemeClr val="bg1"/>
              </a:solidFill>
            </a:endParaRPr>
          </a:p>
        </p:txBody>
      </p:sp>
      <p:pic>
        <p:nvPicPr>
          <p:cNvPr id="3" name="Graphic 2" descr="Decorative circles">
            <a:extLst>
              <a:ext uri="{FF2B5EF4-FFF2-40B4-BE49-F238E27FC236}">
                <a16:creationId xmlns:a16="http://schemas.microsoft.com/office/drawing/2014/main" id="{AA1AF96D-77CC-2CCB-DDF9-9A32247D9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4067" y="2101516"/>
            <a:ext cx="3949408" cy="3949408"/>
          </a:xfrm>
          <a:prstGeom prst="rect">
            <a:avLst/>
          </a:prstGeom>
        </p:spPr>
      </p:pic>
      <p:pic>
        <p:nvPicPr>
          <p:cNvPr id="5" name="Graphic 4" descr="Decorative circles">
            <a:extLst>
              <a:ext uri="{FF2B5EF4-FFF2-40B4-BE49-F238E27FC236}">
                <a16:creationId xmlns:a16="http://schemas.microsoft.com/office/drawing/2014/main" id="{BE7034A4-5003-0856-AF5B-CBCEEF109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3934" y="5014771"/>
            <a:ext cx="3412137" cy="3412137"/>
          </a:xfrm>
          <a:prstGeom prst="rect">
            <a:avLst/>
          </a:prstGeom>
        </p:spPr>
      </p:pic>
      <p:pic>
        <p:nvPicPr>
          <p:cNvPr id="6" name="Graphic 5" descr="Decorative circles">
            <a:extLst>
              <a:ext uri="{FF2B5EF4-FFF2-40B4-BE49-F238E27FC236}">
                <a16:creationId xmlns:a16="http://schemas.microsoft.com/office/drawing/2014/main" id="{D1F5E85C-F1A1-CD57-974B-5A26A1E77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4011" y="3916920"/>
            <a:ext cx="3949408" cy="3949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AD37AF-E2DD-82D9-B233-A0BD38AA5B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2812"/>
          <a:stretch>
            <a:fillRect/>
          </a:stretch>
        </p:blipFill>
        <p:spPr>
          <a:xfrm>
            <a:off x="5482829" y="1635861"/>
            <a:ext cx="5725886" cy="44150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4385276"/>
      </p:ext>
    </p:extLst>
  </p:cSld>
  <p:clrMapOvr>
    <a:masterClrMapping/>
  </p:clrMapOvr>
  <p:transition spd="slow" advTm="2873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38F17-1486-B5C3-856E-0E7C6EAB2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F72B-75FB-34F1-F2EC-27CE5B7A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552876"/>
          </a:xfrm>
        </p:spPr>
        <p:txBody>
          <a:bodyPr>
            <a:noAutofit/>
          </a:bodyPr>
          <a:lstStyle/>
          <a:p>
            <a:r>
              <a:rPr lang="en-ZA" sz="5400" dirty="0">
                <a:solidFill>
                  <a:schemeClr val="bg2"/>
                </a:solidFill>
              </a:rPr>
              <a:t>Testing: Error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3CA80-94AB-A73A-5762-CD511F30A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36" y="1550470"/>
            <a:ext cx="10653579" cy="4207844"/>
          </a:xfrm>
        </p:spPr>
        <p:txBody>
          <a:bodyPr/>
          <a:lstStyle/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Invalid hexadecimal input must return an error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Missing or invalid operator must return an error 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Input exceeding 2 digits must return an error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Division by zero must return an error 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Output that is greater than 4 digits will return an error 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Output that is negative will return an error</a:t>
            </a:r>
          </a:p>
          <a:p>
            <a:pPr marL="742950" lvl="1" indent="-285750"/>
            <a:r>
              <a:rPr lang="en-GB" dirty="0">
                <a:solidFill>
                  <a:schemeClr val="bg1"/>
                </a:solidFill>
              </a:rPr>
              <a:t>Output with decimal places will return an error </a:t>
            </a:r>
            <a:endParaRPr lang="en-ZA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ZA" dirty="0">
              <a:solidFill>
                <a:schemeClr val="bg1"/>
              </a:solidFill>
            </a:endParaRPr>
          </a:p>
          <a:p>
            <a:endParaRPr lang="en-ZA" dirty="0">
              <a:solidFill>
                <a:schemeClr val="bg1"/>
              </a:solidFill>
            </a:endParaRPr>
          </a:p>
        </p:txBody>
      </p:sp>
      <p:pic>
        <p:nvPicPr>
          <p:cNvPr id="3" name="Graphic 2" descr="Decorative circles">
            <a:extLst>
              <a:ext uri="{FF2B5EF4-FFF2-40B4-BE49-F238E27FC236}">
                <a16:creationId xmlns:a16="http://schemas.microsoft.com/office/drawing/2014/main" id="{AA1AF96D-77CC-2CCB-DDF9-9A32247D9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4067" y="2101516"/>
            <a:ext cx="3949408" cy="3949408"/>
          </a:xfrm>
          <a:prstGeom prst="rect">
            <a:avLst/>
          </a:prstGeom>
        </p:spPr>
      </p:pic>
      <p:pic>
        <p:nvPicPr>
          <p:cNvPr id="5" name="Graphic 4" descr="Decorative circles">
            <a:extLst>
              <a:ext uri="{FF2B5EF4-FFF2-40B4-BE49-F238E27FC236}">
                <a16:creationId xmlns:a16="http://schemas.microsoft.com/office/drawing/2014/main" id="{BE7034A4-5003-0856-AF5B-CBCEEF109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3934" y="5014771"/>
            <a:ext cx="3412137" cy="3412137"/>
          </a:xfrm>
          <a:prstGeom prst="rect">
            <a:avLst/>
          </a:prstGeom>
        </p:spPr>
      </p:pic>
      <p:pic>
        <p:nvPicPr>
          <p:cNvPr id="6" name="Graphic 5" descr="Decorative circles">
            <a:extLst>
              <a:ext uri="{FF2B5EF4-FFF2-40B4-BE49-F238E27FC236}">
                <a16:creationId xmlns:a16="http://schemas.microsoft.com/office/drawing/2014/main" id="{D1F5E85C-F1A1-CD57-974B-5A26A1E77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4011" y="3916920"/>
            <a:ext cx="3949408" cy="3949408"/>
          </a:xfrm>
          <a:prstGeom prst="rect">
            <a:avLst/>
          </a:prstGeo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E7316AD8-A3B7-C193-E9C5-9A1789F05A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31" y="4504671"/>
            <a:ext cx="10679538" cy="13869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8244165"/>
      </p:ext>
    </p:extLst>
  </p:cSld>
  <p:clrMapOvr>
    <a:masterClrMapping/>
  </p:clrMapOvr>
  <p:transition spd="slow" advTm="2873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537B8-4B8F-4DB2-0FAF-33770C2E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A711B2-83EF-FC31-D573-E01B76B0FB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625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BF0DAF-4D6F-586A-569A-660EDAC9B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Next Step</a:t>
            </a:r>
            <a:endParaRPr lang="en-ZA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D0C39-B90A-82C2-753B-987B7D506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ZA" sz="2400" dirty="0">
                <a:solidFill>
                  <a:srgbClr val="FFFFFF"/>
                </a:solidFill>
              </a:rPr>
              <a:t>Drafting the code</a:t>
            </a:r>
          </a:p>
        </p:txBody>
      </p:sp>
    </p:spTree>
    <p:extLst>
      <p:ext uri="{BB962C8B-B14F-4D97-AF65-F5344CB8AC3E}">
        <p14:creationId xmlns:p14="http://schemas.microsoft.com/office/powerpoint/2010/main" val="2481674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 advTm="10737">
        <p14:reveal/>
      </p:transition>
    </mc:Choice>
    <mc:Fallback xmlns="">
      <p:transition spd="slow" advTm="10737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6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15.6|13.7|13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|9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|9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|9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|9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|9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|9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3.9|4.5|8.5|3.8|2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8.7|3.6|3.3|3.3|4.3|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8.7|3.6|3.3|3.3|4.3|2.9"/>
</p:tagLst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</TotalTime>
  <Words>1245</Words>
  <Application>Microsoft Office PowerPoint</Application>
  <PresentationFormat>Widescreen</PresentationFormat>
  <Paragraphs>161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Neue Haas Grotesk Text Pro</vt:lpstr>
      <vt:lpstr>VanillaVTI</vt:lpstr>
      <vt:lpstr>How To Create Tests</vt:lpstr>
      <vt:lpstr>Setup</vt:lpstr>
      <vt:lpstr>Functional Requirements</vt:lpstr>
      <vt:lpstr>Steps for each test case</vt:lpstr>
      <vt:lpstr>Testing: Arithmetic Calculations</vt:lpstr>
      <vt:lpstr>Testing: Arithmetic Calculations</vt:lpstr>
      <vt:lpstr>Testing: Arithmetic Calculations</vt:lpstr>
      <vt:lpstr>Testing: Arithmetic Calculations</vt:lpstr>
      <vt:lpstr>Testing: Arithmetic Calculations</vt:lpstr>
      <vt:lpstr>Testing: Arithmetic Calculations</vt:lpstr>
      <vt:lpstr>Testing: Input Handling</vt:lpstr>
      <vt:lpstr>Testing: Output Handling</vt:lpstr>
      <vt:lpstr>Testing: Error Handling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Keanu Ellary</dc:creator>
  <cp:lastModifiedBy>Yuthika Harripersad</cp:lastModifiedBy>
  <cp:revision>5</cp:revision>
  <dcterms:created xsi:type="dcterms:W3CDTF">2026-03-27T11:26:18Z</dcterms:created>
  <dcterms:modified xsi:type="dcterms:W3CDTF">2026-04-19T09:22:44Z</dcterms:modified>
</cp:coreProperties>
</file>